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4" r:id="rId9"/>
    <p:sldId id="265" r:id="rId10"/>
    <p:sldId id="266" r:id="rId11"/>
    <p:sldId id="267" r:id="rId12"/>
    <p:sldId id="268" r:id="rId13"/>
    <p:sldId id="269" r:id="rId14"/>
    <p:sldId id="270" r:id="rId15"/>
    <p:sldId id="271" r:id="rId16"/>
    <p:sldId id="273" r:id="rId17"/>
    <p:sldId id="274" r:id="rId18"/>
    <p:sldId id="275" r:id="rId19"/>
    <p:sldId id="276" r:id="rId20"/>
    <p:sldId id="277" r:id="rId21"/>
    <p:sldId id="279" r:id="rId22"/>
    <p:sldId id="281" r:id="rId23"/>
    <p:sldId id="282" r:id="rId24"/>
    <p:sldId id="283" r:id="rId25"/>
    <p:sldId id="284"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4" d="100"/>
          <a:sy n="104" d="100"/>
        </p:scale>
        <p:origin x="284" y="8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30379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expectations in one sentence: this is a progress report on a project that works end to end but is not finished, and you will be clear about which parts are proven and which are not.</a:t>
            </a:r>
          </a:p>
          <a:p>
            <a:endParaRPr/>
          </a:p>
          <a:p>
            <a:r>
              <a:t>If you have the array with you, hold it up here. It is small, and people are surprised by that.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'this is real' slide. Hold the array up here if you brought it, because the photo makes it look larger than it is.</a:t>
            </a:r>
          </a:p>
          <a:p>
            <a:endParaRPr/>
          </a:p>
          <a:p>
            <a:r>
              <a:t>Point at the four corners as you name them: top-left is mic0, top-right mic1, bottom-left mic2, bottom-right mic3, and that order is wired, not chosen afterwards. The firmware always emits the channels in that order, so a mislabelled corner would show up as a reflected bearing with every delay still correct.</a:t>
            </a:r>
          </a:p>
          <a:p>
            <a:endParaRPr/>
          </a:p>
          <a:p>
            <a:r>
              <a:t>The ruler is worth one sentence. The array dimensions came off that ruler, measured on the mic ports rather than the header pins, and it is good to about half a millimetre. That is not the limiting error: 1 mm is roughly 0.047 samples, well under a degree. It is lying below the board in this shot, it is not a measurement being taken.</a:t>
            </a:r>
          </a:p>
          <a:p>
            <a:endParaRPr/>
          </a:p>
          <a:p>
            <a:r>
              <a:t>Nothing here is a custom PCB. It is breadboard, jumper wire and a development board, and it still lands inside a degree and a half.</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slide for showing that embedded work is largely about budgets.</a:t>
            </a:r>
          </a:p>
          <a:p>
            <a:endParaRPr/>
          </a:p>
          <a:p>
            <a:r>
              <a:t>CMSIS-DSP was vendored in by hand rather than added through the config tool, because the only available pack carrying it also switches on a USB device stack, a USB core and an AI application, all competing for the RAM the capture buffers need.</a:t>
            </a:r>
          </a:p>
          <a:p>
            <a:endParaRPr/>
          </a:p>
          <a:p>
            <a:r>
              <a:t>Then the size problem: compiled whole, the tables file is 707 KB, larger than the entire 512 KB flash. It holds twiddle and bit-reversal tables for every FFT length and data type, and the generic initializer references all of them, so the linker cannot drop any. Naming only the three tables actually needed took it to 40 KB.</a:t>
            </a:r>
          </a:p>
          <a:p>
            <a:endParaRPr/>
          </a:p>
          <a:p>
            <a:r>
              <a:t>Timing estimate is about 10 ms of FFT work per 32 ms frame at 96 MHz, so roughly 3x headroom.</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7/31/2026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1920240"/>
            <a:ext cx="10515600" cy="2492990"/>
          </a:xfrm>
          <a:prstGeom prst="rect">
            <a:avLst/>
          </a:prstGeom>
          <a:noFill/>
        </p:spPr>
        <p:txBody>
          <a:bodyPr wrap="square">
            <a:spAutoFit/>
          </a:bodyPr>
          <a:lstStyle/>
          <a:p>
            <a:pPr algn="l">
              <a:spcAft>
                <a:spcPts val="400"/>
              </a:spcAft>
            </a:pPr>
            <a:r>
              <a:rPr sz="4400" b="1" dirty="0">
                <a:solidFill>
                  <a:srgbClr val="0B0B0B"/>
                </a:solidFill>
                <a:latin typeface="Segoe UI"/>
              </a:rPr>
              <a:t>Acoustic Source Localization</a:t>
            </a:r>
          </a:p>
          <a:p>
            <a:pPr algn="l">
              <a:spcAft>
                <a:spcPts val="2600"/>
              </a:spcAft>
            </a:pPr>
            <a:r>
              <a:rPr sz="4400" b="1" dirty="0">
                <a:solidFill>
                  <a:srgbClr val="2A78D6"/>
                </a:solidFill>
                <a:latin typeface="Segoe UI"/>
              </a:rPr>
              <a:t>on a Wireless Sensor Node</a:t>
            </a:r>
          </a:p>
          <a:p>
            <a:pPr algn="l">
              <a:spcAft>
                <a:spcPts val="600"/>
              </a:spcAft>
            </a:pPr>
            <a:r>
              <a:rPr sz="2000" b="0" dirty="0">
                <a:solidFill>
                  <a:srgbClr val="52514E"/>
                </a:solidFill>
                <a:latin typeface="Segoe UI"/>
              </a:rPr>
              <a:t>Leke,  University of Virginia</a:t>
            </a:r>
          </a:p>
          <a:p>
            <a:pPr algn="l">
              <a:spcAft>
                <a:spcPts val="0"/>
              </a:spcAft>
            </a:pPr>
            <a:r>
              <a:rPr sz="1800" b="1" dirty="0">
                <a:solidFill>
                  <a:srgbClr val="2A78D6"/>
                </a:solidFill>
                <a:latin typeface="Segoe UI"/>
              </a:rPr>
              <a:t>Summer 2026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The goal</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600200"/>
            <a:ext cx="11064240" cy="1328569"/>
          </a:xfrm>
          <a:prstGeom prst="rect">
            <a:avLst/>
          </a:prstGeom>
          <a:noFill/>
        </p:spPr>
        <p:txBody>
          <a:bodyPr wrap="square">
            <a:spAutoFit/>
          </a:bodyPr>
          <a:lstStyle/>
          <a:p>
            <a:pPr algn="l">
              <a:spcAft>
                <a:spcPts val="1400"/>
              </a:spcAft>
            </a:pPr>
            <a:r>
              <a:rPr sz="1900" b="0" dirty="0">
                <a:solidFill>
                  <a:srgbClr val="0B0B0B"/>
                </a:solidFill>
                <a:latin typeface="Segoe UI"/>
              </a:rPr>
              <a:t>•  A small node that hears a sound and reports the direction it came from</a:t>
            </a:r>
          </a:p>
          <a:p>
            <a:pPr algn="l">
              <a:spcAft>
                <a:spcPts val="1400"/>
              </a:spcAft>
            </a:pPr>
            <a:r>
              <a:rPr sz="1900" b="0" dirty="0">
                <a:solidFill>
                  <a:srgbClr val="0B0B0B"/>
                </a:solidFill>
                <a:latin typeface="Segoe UI"/>
              </a:rPr>
              <a:t>•  Several nodes cross their bearings to locate a source</a:t>
            </a:r>
          </a:p>
          <a:p>
            <a:pPr algn="l">
              <a:spcAft>
                <a:spcPts val="1400"/>
              </a:spcAft>
            </a:pPr>
            <a:r>
              <a:rPr sz="1900" b="0" dirty="0">
                <a:solidFill>
                  <a:srgbClr val="0B0B0B"/>
                </a:solidFill>
                <a:latin typeface="Segoe UI"/>
              </a:rPr>
              <a:t>•  This summer: ONE node, microphone to bearing in degrees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How direction comes out of timing</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325880"/>
            <a:ext cx="11064240" cy="420624"/>
          </a:xfrm>
          <a:prstGeom prst="rect">
            <a:avLst/>
          </a:prstGeom>
          <a:noFill/>
        </p:spPr>
        <p:txBody>
          <a:bodyPr wrap="square">
            <a:spAutoFit/>
          </a:bodyPr>
          <a:lstStyle/>
          <a:p>
            <a:pPr algn="l">
              <a:spcAft>
                <a:spcPts val="0"/>
              </a:spcAft>
            </a:pPr>
            <a:r>
              <a:rPr sz="1700" b="0">
                <a:solidFill>
                  <a:srgbClr val="0B0B0B"/>
                </a:solidFill>
                <a:latin typeface="Segoe UI"/>
              </a:rPr>
              <a:t>Direction shows up as the ORDER and SPACING of arrivals</a:t>
            </a:r>
          </a:p>
        </p:txBody>
      </p:sp>
      <p:pic>
        <p:nvPicPr>
          <p:cNvPr id="5" name="Picture 4" descr="fig_tdoa.png"/>
          <p:cNvPicPr>
            <a:picLocks noChangeAspect="1"/>
          </p:cNvPicPr>
          <p:nvPr/>
        </p:nvPicPr>
        <p:blipFill>
          <a:blip r:embed="rId3"/>
          <a:stretch>
            <a:fillRect/>
          </a:stretch>
        </p:blipFill>
        <p:spPr>
          <a:xfrm>
            <a:off x="566928" y="1856231"/>
            <a:ext cx="4226388" cy="3703320"/>
          </a:xfrm>
          <a:prstGeom prst="rect">
            <a:avLst/>
          </a:prstGeom>
        </p:spPr>
      </p:pic>
      <p:sp>
        <p:nvSpPr>
          <p:cNvPr id="6" name="TextBox 5"/>
          <p:cNvSpPr txBox="1"/>
          <p:nvPr/>
        </p:nvSpPr>
        <p:spPr>
          <a:xfrm>
            <a:off x="566928" y="5669279"/>
            <a:ext cx="4226388" cy="777240"/>
          </a:xfrm>
          <a:prstGeom prst="rect">
            <a:avLst/>
          </a:prstGeom>
          <a:noFill/>
        </p:spPr>
        <p:txBody>
          <a:bodyPr wrap="square">
            <a:spAutoFit/>
          </a:bodyPr>
          <a:lstStyle/>
          <a:p>
            <a:pPr algn="l">
              <a:spcAft>
                <a:spcPts val="0"/>
              </a:spcAft>
            </a:pPr>
            <a:r>
              <a:rPr sz="1350" b="0">
                <a:solidFill>
                  <a:srgbClr val="52514E"/>
                </a:solidFill>
                <a:latin typeface="Segoe UI"/>
              </a:rPr>
              <a:t>1 sample at 16 kHz = 62.5 us = 2.1 cm of travel, so delays must be measured to a fraction of a sample.</a:t>
            </a:r>
          </a:p>
        </p:txBody>
      </p:sp>
      <p:sp>
        <p:nvSpPr>
          <p:cNvPr id="7" name="TextBox 6"/>
          <p:cNvSpPr txBox="1"/>
          <p:nvPr/>
        </p:nvSpPr>
        <p:spPr>
          <a:xfrm>
            <a:off x="5113356" y="1856231"/>
            <a:ext cx="6621139" cy="4023360"/>
          </a:xfrm>
          <a:prstGeom prst="rect">
            <a:avLst/>
          </a:prstGeom>
          <a:noFill/>
        </p:spPr>
        <p:txBody>
          <a:bodyPr wrap="square">
            <a:spAutoFit/>
          </a:bodyPr>
          <a:lstStyle/>
          <a:p>
            <a:pPr algn="l">
              <a:spcAft>
                <a:spcPts val="1300"/>
              </a:spcAft>
            </a:pPr>
            <a:r>
              <a:rPr sz="1550" b="0">
                <a:solidFill>
                  <a:srgbClr val="0B0B0B"/>
                </a:solidFill>
                <a:latin typeface="Segoe UI"/>
              </a:rPr>
              <a:t>•  Sound reaches the four mics at slightly different times</a:t>
            </a:r>
          </a:p>
          <a:p>
            <a:pPr algn="l">
              <a:spcAft>
                <a:spcPts val="1300"/>
              </a:spcAft>
            </a:pPr>
            <a:r>
              <a:rPr sz="1550" b="0">
                <a:solidFill>
                  <a:srgbClr val="0B0B0B"/>
                </a:solidFill>
                <a:latin typeface="Segoe UI"/>
              </a:rPr>
              <a:t>•  Those differences depend on direction</a:t>
            </a:r>
          </a:p>
          <a:p>
            <a:pPr algn="l">
              <a:spcAft>
                <a:spcPts val="1300"/>
              </a:spcAft>
            </a:pPr>
            <a:r>
              <a:rPr sz="1550" b="0">
                <a:solidFill>
                  <a:srgbClr val="0B0B0B"/>
                </a:solidFill>
                <a:latin typeface="Segoe UI"/>
              </a:rPr>
              <a:t>•  At 16 kHz one sample is 2.1 cm of travel</a:t>
            </a:r>
          </a:p>
          <a:p>
            <a:pPr algn="l">
              <a:spcAft>
                <a:spcPts val="1300"/>
              </a:spcAft>
            </a:pPr>
            <a:r>
              <a:rPr sz="1550" b="0">
                <a:solidFill>
                  <a:srgbClr val="0B0B0B"/>
                </a:solidFill>
                <a:latin typeface="Segoe UI"/>
              </a:rPr>
              <a:t>•  So delays need sub-sample accuracy</a:t>
            </a:r>
          </a:p>
          <a:p>
            <a:pPr algn="l">
              <a:spcAft>
                <a:spcPts val="1300"/>
              </a:spcAft>
            </a:pPr>
            <a:r>
              <a:rPr sz="1550" b="0">
                <a:solidFill>
                  <a:srgbClr val="0B0B0B"/>
                </a:solidFill>
                <a:latin typeface="Segoe UI"/>
              </a:rPr>
              <a:t>•  GCC-PHAT plus peak interpolation gets it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System overview</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600200"/>
            <a:ext cx="11064240" cy="2272417"/>
          </a:xfrm>
          <a:prstGeom prst="rect">
            <a:avLst/>
          </a:prstGeom>
          <a:noFill/>
        </p:spPr>
        <p:txBody>
          <a:bodyPr wrap="square">
            <a:spAutoFit/>
          </a:bodyPr>
          <a:lstStyle/>
          <a:p>
            <a:pPr algn="l">
              <a:spcAft>
                <a:spcPts val="1400"/>
              </a:spcAft>
            </a:pPr>
            <a:r>
              <a:rPr sz="1900" b="0" dirty="0">
                <a:solidFill>
                  <a:srgbClr val="0B0B0B"/>
                </a:solidFill>
                <a:latin typeface="Segoe UI"/>
              </a:rPr>
              <a:t>•  Four PDM MEMS mics, 16 kHz per channel</a:t>
            </a:r>
          </a:p>
          <a:p>
            <a:pPr algn="l">
              <a:spcAft>
                <a:spcPts val="1400"/>
              </a:spcAft>
            </a:pPr>
            <a:r>
              <a:rPr sz="1900" b="0" dirty="0">
                <a:solidFill>
                  <a:srgbClr val="0B0B0B"/>
                </a:solidFill>
                <a:latin typeface="Segoe UI"/>
              </a:rPr>
              <a:t>•  STM32L552 at 96 MHz: DFSDM decimation, DMA into RAM</a:t>
            </a:r>
          </a:p>
          <a:p>
            <a:pPr algn="l">
              <a:spcAft>
                <a:spcPts val="1400"/>
              </a:spcAft>
            </a:pPr>
            <a:r>
              <a:rPr sz="1900" b="0" dirty="0">
                <a:solidFill>
                  <a:srgbClr val="0B0B0B"/>
                </a:solidFill>
                <a:latin typeface="Segoe UI"/>
              </a:rPr>
              <a:t>•  Clap trigger, one second stored</a:t>
            </a:r>
          </a:p>
          <a:p>
            <a:pPr algn="l">
              <a:spcAft>
                <a:spcPts val="1400"/>
              </a:spcAft>
            </a:pPr>
            <a:r>
              <a:rPr sz="1900" b="0" dirty="0">
                <a:solidFill>
                  <a:srgbClr val="0B0B0B"/>
                </a:solidFill>
                <a:latin typeface="Segoe UI"/>
              </a:rPr>
              <a:t>•  Bearing computed </a:t>
            </a:r>
            <a:r>
              <a:rPr lang="en-US" sz="1900" dirty="0">
                <a:solidFill>
                  <a:srgbClr val="0B0B0B"/>
                </a:solidFill>
                <a:latin typeface="Segoe UI"/>
              </a:rPr>
              <a:t>on</a:t>
            </a:r>
            <a:r>
              <a:rPr sz="1900" b="0" dirty="0">
                <a:solidFill>
                  <a:srgbClr val="0B0B0B"/>
                </a:solidFill>
                <a:latin typeface="Segoe UI"/>
              </a:rPr>
              <a:t> the board with CMSIS-DSP</a:t>
            </a:r>
          </a:p>
          <a:p>
            <a:pPr algn="l">
              <a:spcAft>
                <a:spcPts val="1400"/>
              </a:spcAft>
            </a:pPr>
            <a:r>
              <a:rPr sz="1900" b="0" dirty="0">
                <a:solidFill>
                  <a:srgbClr val="0B0B0B"/>
                </a:solidFill>
                <a:latin typeface="Segoe UI"/>
              </a:rPr>
              <a:t>•  Raw audio also dumped over serial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The hardware</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325880"/>
            <a:ext cx="11064240" cy="420624"/>
          </a:xfrm>
          <a:prstGeom prst="rect">
            <a:avLst/>
          </a:prstGeom>
          <a:noFill/>
        </p:spPr>
        <p:txBody>
          <a:bodyPr wrap="square">
            <a:spAutoFit/>
          </a:bodyPr>
          <a:lstStyle/>
          <a:p>
            <a:pPr algn="l">
              <a:spcAft>
                <a:spcPts val="0"/>
              </a:spcAft>
            </a:pPr>
            <a:r>
              <a:rPr sz="1700" b="0">
                <a:solidFill>
                  <a:srgbClr val="0B0B0B"/>
                </a:solidFill>
                <a:latin typeface="Segoe UI"/>
              </a:rPr>
              <a:t>The array as built, on the bench</a:t>
            </a:r>
          </a:p>
        </p:txBody>
      </p:sp>
      <p:pic>
        <p:nvPicPr>
          <p:cNvPr id="5" name="Picture 4" descr="fig_bench.jpg"/>
          <p:cNvPicPr>
            <a:picLocks noChangeAspect="1"/>
          </p:cNvPicPr>
          <p:nvPr/>
        </p:nvPicPr>
        <p:blipFill>
          <a:blip r:embed="rId3"/>
          <a:stretch>
            <a:fillRect/>
          </a:stretch>
        </p:blipFill>
        <p:spPr>
          <a:xfrm>
            <a:off x="566928" y="1856231"/>
            <a:ext cx="3447287" cy="3977639"/>
          </a:xfrm>
          <a:prstGeom prst="rect">
            <a:avLst/>
          </a:prstGeom>
        </p:spPr>
      </p:pic>
      <p:sp>
        <p:nvSpPr>
          <p:cNvPr id="6" name="TextBox 5"/>
          <p:cNvSpPr txBox="1"/>
          <p:nvPr/>
        </p:nvSpPr>
        <p:spPr>
          <a:xfrm>
            <a:off x="566928" y="5943598"/>
            <a:ext cx="3447287" cy="777240"/>
          </a:xfrm>
          <a:prstGeom prst="rect">
            <a:avLst/>
          </a:prstGeom>
          <a:noFill/>
        </p:spPr>
        <p:txBody>
          <a:bodyPr wrap="square">
            <a:spAutoFit/>
          </a:bodyPr>
          <a:lstStyle/>
          <a:p>
            <a:pPr algn="l">
              <a:spcAft>
                <a:spcPts val="0"/>
              </a:spcAft>
            </a:pPr>
            <a:r>
              <a:rPr sz="1350" b="0">
                <a:solidFill>
                  <a:srgbClr val="52514E"/>
                </a:solidFill>
                <a:latin typeface="Segoe UI"/>
              </a:rPr>
              <a:t>Four PDM mics at the corners of a 9.25 by 9.9 cm rectangle. The red PCB ruler gives the scale.</a:t>
            </a:r>
          </a:p>
        </p:txBody>
      </p:sp>
      <p:sp>
        <p:nvSpPr>
          <p:cNvPr id="7" name="TextBox 6"/>
          <p:cNvSpPr txBox="1"/>
          <p:nvPr/>
        </p:nvSpPr>
        <p:spPr>
          <a:xfrm>
            <a:off x="4334255" y="1856231"/>
            <a:ext cx="7400240" cy="4023360"/>
          </a:xfrm>
          <a:prstGeom prst="rect">
            <a:avLst/>
          </a:prstGeom>
          <a:noFill/>
        </p:spPr>
        <p:txBody>
          <a:bodyPr wrap="square">
            <a:spAutoFit/>
          </a:bodyPr>
          <a:lstStyle/>
          <a:p>
            <a:pPr algn="l">
              <a:spcAft>
                <a:spcPts val="1300"/>
              </a:spcAft>
            </a:pPr>
            <a:r>
              <a:rPr sz="1550" b="0">
                <a:solidFill>
                  <a:srgbClr val="0B0B0B"/>
                </a:solidFill>
                <a:latin typeface="Segoe UI"/>
              </a:rPr>
              <a:t>•  NUCLEO-L552ZE-Q, four MP34DT01-M PDM mics</a:t>
            </a:r>
          </a:p>
          <a:p>
            <a:pPr algn="l">
              <a:spcAft>
                <a:spcPts val="1300"/>
              </a:spcAft>
            </a:pPr>
            <a:r>
              <a:rPr sz="1550" b="0">
                <a:solidFill>
                  <a:srgbClr val="0B0B0B"/>
                </a:solidFill>
                <a:latin typeface="Segoe UI"/>
              </a:rPr>
              <a:t>•  Two full-size breadboards glued together, one mic per corner</a:t>
            </a:r>
          </a:p>
          <a:p>
            <a:pPr algn="l">
              <a:spcAft>
                <a:spcPts val="1300"/>
              </a:spcAft>
            </a:pPr>
            <a:r>
              <a:rPr sz="1550" b="0">
                <a:solidFill>
                  <a:srgbClr val="0B0B0B"/>
                </a:solidFill>
                <a:latin typeface="Segoe UI"/>
              </a:rPr>
              <a:t>•  One clock net fans out to all four mics</a:t>
            </a:r>
          </a:p>
          <a:p>
            <a:pPr algn="l">
              <a:spcAft>
                <a:spcPts val="1300"/>
              </a:spcAft>
            </a:pPr>
            <a:r>
              <a:rPr sz="1550" b="0">
                <a:solidFill>
                  <a:srgbClr val="0B0B0B"/>
                </a:solidFill>
                <a:latin typeface="Segoe UI"/>
              </a:rPr>
              <a:t>•  Two mics share each data line, using SEL to pick opposite clock edges</a:t>
            </a:r>
          </a:p>
          <a:p>
            <a:pPr algn="l">
              <a:spcAft>
                <a:spcPts val="1300"/>
              </a:spcAft>
            </a:pPr>
            <a:r>
              <a:rPr sz="1550" b="0">
                <a:solidFill>
                  <a:srgbClr val="0B0B0B"/>
                </a:solidFill>
                <a:latin typeface="Segoe UI"/>
              </a:rPr>
              <a:t>•  The red ruler at the bottom is the instrument the array was measured with</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Four microphones on two data pins</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600200"/>
            <a:ext cx="11064240" cy="1800493"/>
          </a:xfrm>
          <a:prstGeom prst="rect">
            <a:avLst/>
          </a:prstGeom>
          <a:noFill/>
        </p:spPr>
        <p:txBody>
          <a:bodyPr wrap="square">
            <a:spAutoFit/>
          </a:bodyPr>
          <a:lstStyle/>
          <a:p>
            <a:pPr algn="l">
              <a:spcAft>
                <a:spcPts val="1400"/>
              </a:spcAft>
            </a:pPr>
            <a:r>
              <a:rPr sz="1900" b="0" dirty="0">
                <a:solidFill>
                  <a:srgbClr val="0B0B0B"/>
                </a:solidFill>
                <a:latin typeface="Segoe UI"/>
              </a:rPr>
              <a:t>•  The chip has four DFSDM channels, not eight</a:t>
            </a:r>
          </a:p>
          <a:p>
            <a:pPr algn="l">
              <a:spcAft>
                <a:spcPts val="1400"/>
              </a:spcAft>
            </a:pPr>
            <a:r>
              <a:rPr sz="1900" b="0" dirty="0">
                <a:solidFill>
                  <a:srgbClr val="0B0B0B"/>
                </a:solidFill>
                <a:latin typeface="Segoe UI"/>
              </a:rPr>
              <a:t>•  Each mic's SEL pin picks the rising or the falling clock edge</a:t>
            </a:r>
          </a:p>
          <a:p>
            <a:pPr algn="l">
              <a:spcAft>
                <a:spcPts val="1400"/>
              </a:spcAft>
            </a:pPr>
            <a:r>
              <a:rPr sz="1900" b="0" dirty="0">
                <a:solidFill>
                  <a:srgbClr val="0B0B0B"/>
                </a:solidFill>
                <a:latin typeface="Segoe UI"/>
              </a:rPr>
              <a:t>•  Two mics with opposite SEL share one wire without colliding</a:t>
            </a:r>
          </a:p>
          <a:p>
            <a:pPr algn="l">
              <a:spcAft>
                <a:spcPts val="1400"/>
              </a:spcAft>
            </a:pPr>
            <a:r>
              <a:rPr sz="1900" b="0" dirty="0">
                <a:solidFill>
                  <a:srgbClr val="0B0B0B"/>
                </a:solidFill>
                <a:latin typeface="Segoe UI"/>
              </a:rPr>
              <a:t>•  Mics 0 and 1 on PE7, mics 2 and 3 on PB1, one clock net to all four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The problem that had to be solved first</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600200"/>
            <a:ext cx="11064240" cy="1800493"/>
          </a:xfrm>
          <a:prstGeom prst="rect">
            <a:avLst/>
          </a:prstGeom>
          <a:noFill/>
        </p:spPr>
        <p:txBody>
          <a:bodyPr wrap="square">
            <a:spAutoFit/>
          </a:bodyPr>
          <a:lstStyle/>
          <a:p>
            <a:pPr algn="l">
              <a:spcAft>
                <a:spcPts val="1400"/>
              </a:spcAft>
            </a:pPr>
            <a:r>
              <a:rPr sz="1900" b="0" dirty="0">
                <a:solidFill>
                  <a:srgbClr val="0B0B0B"/>
                </a:solidFill>
                <a:latin typeface="Segoe UI"/>
              </a:rPr>
              <a:t>•  The four digital filters must start on the same clock edge</a:t>
            </a:r>
          </a:p>
          <a:p>
            <a:pPr algn="l">
              <a:spcAft>
                <a:spcPts val="1400"/>
              </a:spcAft>
            </a:pPr>
            <a:r>
              <a:rPr sz="1900" b="0" dirty="0">
                <a:solidFill>
                  <a:srgbClr val="0B0B0B"/>
                </a:solidFill>
                <a:latin typeface="Segoe UI"/>
              </a:rPr>
              <a:t>•  If they do not, every channel carries an unknown offset</a:t>
            </a:r>
          </a:p>
          <a:p>
            <a:pPr algn="l">
              <a:spcAft>
                <a:spcPts val="1400"/>
              </a:spcAft>
            </a:pPr>
            <a:r>
              <a:rPr sz="1900" b="0" dirty="0">
                <a:solidFill>
                  <a:srgbClr val="0B0B0B"/>
                </a:solidFill>
                <a:latin typeface="Segoe UI"/>
              </a:rPr>
              <a:t>•  An unknown offset is indistinguishable from real acoustic delay</a:t>
            </a:r>
          </a:p>
          <a:p>
            <a:pPr algn="l">
              <a:spcAft>
                <a:spcPts val="1400"/>
              </a:spcAft>
            </a:pPr>
            <a:r>
              <a:rPr sz="1900" b="0" dirty="0">
                <a:solidFill>
                  <a:srgbClr val="0B0B0B"/>
                </a:solidFill>
                <a:latin typeface="Segoe UI"/>
              </a:rPr>
              <a:t>•  Fix: synchronized start, followers armed first, trigger filter last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Array geometry, and why it is not hardcoded</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325880"/>
            <a:ext cx="11064240" cy="420624"/>
          </a:xfrm>
          <a:prstGeom prst="rect">
            <a:avLst/>
          </a:prstGeom>
          <a:noFill/>
        </p:spPr>
        <p:txBody>
          <a:bodyPr wrap="square">
            <a:spAutoFit/>
          </a:bodyPr>
          <a:lstStyle/>
          <a:p>
            <a:pPr algn="l">
              <a:spcAft>
                <a:spcPts val="0"/>
              </a:spcAft>
            </a:pPr>
            <a:r>
              <a:rPr sz="1700" b="0">
                <a:solidFill>
                  <a:srgbClr val="0B0B0B"/>
                </a:solidFill>
                <a:latin typeface="Segoe UI"/>
              </a:rPr>
              <a:t>Built array, measured port to port with a ruler</a:t>
            </a:r>
          </a:p>
        </p:txBody>
      </p:sp>
      <p:pic>
        <p:nvPicPr>
          <p:cNvPr id="5" name="Picture 4" descr="fig_array.png"/>
          <p:cNvPicPr>
            <a:picLocks noChangeAspect="1"/>
          </p:cNvPicPr>
          <p:nvPr/>
        </p:nvPicPr>
        <p:blipFill>
          <a:blip r:embed="rId3"/>
          <a:stretch>
            <a:fillRect/>
          </a:stretch>
        </p:blipFill>
        <p:spPr>
          <a:xfrm>
            <a:off x="566928" y="1856231"/>
            <a:ext cx="4567428" cy="3703320"/>
          </a:xfrm>
          <a:prstGeom prst="rect">
            <a:avLst/>
          </a:prstGeom>
        </p:spPr>
      </p:pic>
      <p:sp>
        <p:nvSpPr>
          <p:cNvPr id="6" name="TextBox 5"/>
          <p:cNvSpPr txBox="1"/>
          <p:nvPr/>
        </p:nvSpPr>
        <p:spPr>
          <a:xfrm>
            <a:off x="566928" y="5669279"/>
            <a:ext cx="4567428" cy="777240"/>
          </a:xfrm>
          <a:prstGeom prst="rect">
            <a:avLst/>
          </a:prstGeom>
          <a:noFill/>
        </p:spPr>
        <p:txBody>
          <a:bodyPr wrap="square">
            <a:spAutoFit/>
          </a:bodyPr>
          <a:lstStyle/>
          <a:p>
            <a:pPr algn="l">
              <a:spcAft>
                <a:spcPts val="0"/>
              </a:spcAft>
            </a:pPr>
            <a:r>
              <a:rPr sz="1350" b="0">
                <a:solidFill>
                  <a:srgbClr val="52514E"/>
                </a:solidFill>
                <a:latin typeface="Segoe UI"/>
              </a:rPr>
              <a:t>Aperture 13.5 cm (6.32 samples). Condition number 1.07, so no blind directions.</a:t>
            </a:r>
          </a:p>
        </p:txBody>
      </p:sp>
      <p:sp>
        <p:nvSpPr>
          <p:cNvPr id="7" name="TextBox 6"/>
          <p:cNvSpPr txBox="1"/>
          <p:nvPr/>
        </p:nvSpPr>
        <p:spPr>
          <a:xfrm>
            <a:off x="5454396" y="1856231"/>
            <a:ext cx="6280099" cy="1141338"/>
          </a:xfrm>
          <a:prstGeom prst="rect">
            <a:avLst/>
          </a:prstGeom>
          <a:noFill/>
        </p:spPr>
        <p:txBody>
          <a:bodyPr wrap="square">
            <a:spAutoFit/>
          </a:bodyPr>
          <a:lstStyle/>
          <a:p>
            <a:pPr algn="l">
              <a:spcAft>
                <a:spcPts val="1300"/>
              </a:spcAft>
            </a:pPr>
            <a:r>
              <a:rPr sz="1550" b="0" dirty="0">
                <a:solidFill>
                  <a:srgbClr val="0B0B0B"/>
                </a:solidFill>
                <a:latin typeface="Segoe UI"/>
              </a:rPr>
              <a:t>•  Built array 9.25 x 9.9 cm, measured port to port with a ruler</a:t>
            </a:r>
          </a:p>
          <a:p>
            <a:pPr algn="l">
              <a:spcAft>
                <a:spcPts val="1300"/>
              </a:spcAft>
            </a:pPr>
            <a:r>
              <a:rPr sz="1550" b="0" dirty="0">
                <a:solidFill>
                  <a:srgbClr val="0B0B0B"/>
                </a:solidFill>
                <a:latin typeface="Segoe UI"/>
              </a:rPr>
              <a:t>•  Condition number 1.07, so no blind directions</a:t>
            </a:r>
          </a:p>
          <a:p>
            <a:pPr algn="l">
              <a:spcAft>
                <a:spcPts val="1300"/>
              </a:spcAft>
            </a:pPr>
            <a:r>
              <a:rPr sz="1550" b="0" dirty="0">
                <a:solidFill>
                  <a:srgbClr val="0B0B0B"/>
                </a:solidFill>
                <a:latin typeface="Segoe UI"/>
              </a:rPr>
              <a:t>•  Trying another layout is a one line change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553998"/>
          </a:xfrm>
          <a:prstGeom prst="rect">
            <a:avLst/>
          </a:prstGeom>
          <a:noFill/>
        </p:spPr>
        <p:txBody>
          <a:bodyPr wrap="square">
            <a:spAutoFit/>
          </a:bodyPr>
          <a:lstStyle/>
          <a:p>
            <a:pPr algn="l">
              <a:spcAft>
                <a:spcPts val="0"/>
              </a:spcAft>
            </a:pPr>
            <a:r>
              <a:rPr lang="en-US" sz="3000" b="1" dirty="0">
                <a:solidFill>
                  <a:srgbClr val="0B0B0B"/>
                </a:solidFill>
                <a:latin typeface="Segoe UI"/>
              </a:rPr>
              <a:t>Python Simulations</a:t>
            </a:r>
            <a:endParaRPr sz="3000" b="1" dirty="0">
              <a:solidFill>
                <a:srgbClr val="0B0B0B"/>
              </a:solidFill>
              <a:latin typeface="Segoe UI"/>
            </a:endParaRP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566928" y="1600200"/>
          <a:ext cx="11064238" cy="2688336"/>
        </p:xfrm>
        <a:graphic>
          <a:graphicData uri="http://schemas.openxmlformats.org/drawingml/2006/table">
            <a:tbl>
              <a:tblPr firstRow="1" bandRow="1">
                <a:tableStyleId>{5C22544A-7EE6-4342-B048-85BDC9FD1C3A}</a:tableStyleId>
              </a:tblPr>
              <a:tblGrid>
                <a:gridCol w="3688080">
                  <a:extLst>
                    <a:ext uri="{9D8B030D-6E8A-4147-A177-3AD203B41FA5}">
                      <a16:colId xmlns:a16="http://schemas.microsoft.com/office/drawing/2014/main" val="20000"/>
                    </a:ext>
                  </a:extLst>
                </a:gridCol>
                <a:gridCol w="1410148">
                  <a:extLst>
                    <a:ext uri="{9D8B030D-6E8A-4147-A177-3AD203B41FA5}">
                      <a16:colId xmlns:a16="http://schemas.microsoft.com/office/drawing/2014/main" val="20001"/>
                    </a:ext>
                  </a:extLst>
                </a:gridCol>
                <a:gridCol w="2060985">
                  <a:extLst>
                    <a:ext uri="{9D8B030D-6E8A-4147-A177-3AD203B41FA5}">
                      <a16:colId xmlns:a16="http://schemas.microsoft.com/office/drawing/2014/main" val="20002"/>
                    </a:ext>
                  </a:extLst>
                </a:gridCol>
                <a:gridCol w="1301675">
                  <a:extLst>
                    <a:ext uri="{9D8B030D-6E8A-4147-A177-3AD203B41FA5}">
                      <a16:colId xmlns:a16="http://schemas.microsoft.com/office/drawing/2014/main" val="20003"/>
                    </a:ext>
                  </a:extLst>
                </a:gridCol>
                <a:gridCol w="1301675">
                  <a:extLst>
                    <a:ext uri="{9D8B030D-6E8A-4147-A177-3AD203B41FA5}">
                      <a16:colId xmlns:a16="http://schemas.microsoft.com/office/drawing/2014/main" val="20004"/>
                    </a:ext>
                  </a:extLst>
                </a:gridCol>
                <a:gridCol w="1301675">
                  <a:extLst>
                    <a:ext uri="{9D8B030D-6E8A-4147-A177-3AD203B41FA5}">
                      <a16:colId xmlns:a16="http://schemas.microsoft.com/office/drawing/2014/main" val="20005"/>
                    </a:ext>
                  </a:extLst>
                </a:gridCol>
              </a:tblGrid>
              <a:tr h="384048">
                <a:tc>
                  <a:txBody>
                    <a:bodyPr/>
                    <a:lstStyle/>
                    <a:p>
                      <a:r>
                        <a:rPr sz="1500" b="1">
                          <a:solidFill>
                            <a:srgbClr val="FFFFFF"/>
                          </a:solidFill>
                          <a:latin typeface="Segoe UI"/>
                        </a:rPr>
                        <a:t>Layout</a:t>
                      </a:r>
                    </a:p>
                  </a:txBody>
                  <a:tcPr>
                    <a:solidFill>
                      <a:srgbClr val="0B0B0B"/>
                    </a:solidFill>
                  </a:tcPr>
                </a:tc>
                <a:tc>
                  <a:txBody>
                    <a:bodyPr/>
                    <a:lstStyle/>
                    <a:p>
                      <a:r>
                        <a:rPr sz="1500" b="1">
                          <a:solidFill>
                            <a:srgbClr val="FFFFFF"/>
                          </a:solidFill>
                          <a:latin typeface="Segoe UI"/>
                        </a:rPr>
                        <a:t>Aperture</a:t>
                      </a:r>
                    </a:p>
                  </a:txBody>
                  <a:tcPr>
                    <a:solidFill>
                      <a:srgbClr val="0B0B0B"/>
                    </a:solidFill>
                  </a:tcPr>
                </a:tc>
                <a:tc>
                  <a:txBody>
                    <a:bodyPr/>
                    <a:lstStyle/>
                    <a:p>
                      <a:r>
                        <a:rPr sz="1500" b="1">
                          <a:solidFill>
                            <a:srgbClr val="FFFFFF"/>
                          </a:solidFill>
                          <a:latin typeface="Segoe UI"/>
                        </a:rPr>
                        <a:t>Condition number</a:t>
                      </a:r>
                    </a:p>
                  </a:txBody>
                  <a:tcPr>
                    <a:solidFill>
                      <a:srgbClr val="0B0B0B"/>
                    </a:solidFill>
                  </a:tcPr>
                </a:tc>
                <a:tc>
                  <a:txBody>
                    <a:bodyPr/>
                    <a:lstStyle/>
                    <a:p>
                      <a:r>
                        <a:rPr sz="1500" b="1">
                          <a:solidFill>
                            <a:srgbClr val="FFFFFF"/>
                          </a:solidFill>
                          <a:latin typeface="Segoe UI"/>
                        </a:rPr>
                        <a:t>Mean</a:t>
                      </a:r>
                    </a:p>
                  </a:txBody>
                  <a:tcPr>
                    <a:solidFill>
                      <a:srgbClr val="0B0B0B"/>
                    </a:solidFill>
                  </a:tcPr>
                </a:tc>
                <a:tc>
                  <a:txBody>
                    <a:bodyPr/>
                    <a:lstStyle/>
                    <a:p>
                      <a:r>
                        <a:rPr sz="1500" b="1">
                          <a:solidFill>
                            <a:srgbClr val="FFFFFF"/>
                          </a:solidFill>
                          <a:latin typeface="Segoe UI"/>
                        </a:rPr>
                        <a:t>p90</a:t>
                      </a:r>
                    </a:p>
                  </a:txBody>
                  <a:tcPr>
                    <a:solidFill>
                      <a:srgbClr val="0B0B0B"/>
                    </a:solidFill>
                  </a:tcPr>
                </a:tc>
                <a:tc>
                  <a:txBody>
                    <a:bodyPr/>
                    <a:lstStyle/>
                    <a:p>
                      <a:r>
                        <a:rPr sz="1500" b="1">
                          <a:solidFill>
                            <a:srgbClr val="FFFFFF"/>
                          </a:solidFill>
                          <a:latin typeface="Segoe UI"/>
                        </a:rPr>
                        <a:t>Worst</a:t>
                      </a:r>
                    </a:p>
                  </a:txBody>
                  <a:tcPr>
                    <a:solidFill>
                      <a:srgbClr val="0B0B0B"/>
                    </a:solidFill>
                  </a:tcPr>
                </a:tc>
                <a:extLst>
                  <a:ext uri="{0D108BD9-81ED-4DB2-BD59-A6C34878D82A}">
                    <a16:rowId xmlns:a16="http://schemas.microsoft.com/office/drawing/2014/main" val="10000"/>
                  </a:ext>
                </a:extLst>
              </a:tr>
              <a:tr h="384048">
                <a:tc>
                  <a:txBody>
                    <a:bodyPr/>
                    <a:lstStyle/>
                    <a:p>
                      <a:r>
                        <a:rPr sz="1400" b="1">
                          <a:solidFill>
                            <a:srgbClr val="2A78D6"/>
                          </a:solidFill>
                          <a:latin typeface="Segoe UI"/>
                        </a:rPr>
                        <a:t>9.25 x 9.9 cm  (BUILT)</a:t>
                      </a:r>
                    </a:p>
                  </a:txBody>
                  <a:tcPr>
                    <a:solidFill>
                      <a:srgbClr val="F2F1EC"/>
                    </a:solidFill>
                  </a:tcPr>
                </a:tc>
                <a:tc>
                  <a:txBody>
                    <a:bodyPr/>
                    <a:lstStyle/>
                    <a:p>
                      <a:r>
                        <a:rPr sz="1400" b="1">
                          <a:solidFill>
                            <a:srgbClr val="2A78D6"/>
                          </a:solidFill>
                          <a:latin typeface="Segoe UI"/>
                        </a:rPr>
                        <a:t>13.5 cm</a:t>
                      </a:r>
                    </a:p>
                  </a:txBody>
                  <a:tcPr>
                    <a:solidFill>
                      <a:srgbClr val="F2F1EC"/>
                    </a:solidFill>
                  </a:tcPr>
                </a:tc>
                <a:tc>
                  <a:txBody>
                    <a:bodyPr/>
                    <a:lstStyle/>
                    <a:p>
                      <a:r>
                        <a:rPr sz="1400" b="1">
                          <a:solidFill>
                            <a:srgbClr val="2A78D6"/>
                          </a:solidFill>
                          <a:latin typeface="Segoe UI"/>
                        </a:rPr>
                        <a:t>1.07</a:t>
                      </a:r>
                    </a:p>
                  </a:txBody>
                  <a:tcPr>
                    <a:solidFill>
                      <a:srgbClr val="F2F1EC"/>
                    </a:solidFill>
                  </a:tcPr>
                </a:tc>
                <a:tc>
                  <a:txBody>
                    <a:bodyPr/>
                    <a:lstStyle/>
                    <a:p>
                      <a:r>
                        <a:rPr sz="1400" b="1">
                          <a:solidFill>
                            <a:srgbClr val="2A78D6"/>
                          </a:solidFill>
                          <a:latin typeface="Segoe UI"/>
                        </a:rPr>
                        <a:t>1.04 deg</a:t>
                      </a:r>
                    </a:p>
                  </a:txBody>
                  <a:tcPr>
                    <a:solidFill>
                      <a:srgbClr val="F2F1EC"/>
                    </a:solidFill>
                  </a:tcPr>
                </a:tc>
                <a:tc>
                  <a:txBody>
                    <a:bodyPr/>
                    <a:lstStyle/>
                    <a:p>
                      <a:r>
                        <a:rPr sz="1400" b="1">
                          <a:solidFill>
                            <a:srgbClr val="2A78D6"/>
                          </a:solidFill>
                          <a:latin typeface="Segoe UI"/>
                        </a:rPr>
                        <a:t>2.14 deg</a:t>
                      </a:r>
                    </a:p>
                  </a:txBody>
                  <a:tcPr>
                    <a:solidFill>
                      <a:srgbClr val="F2F1EC"/>
                    </a:solidFill>
                  </a:tcPr>
                </a:tc>
                <a:tc>
                  <a:txBody>
                    <a:bodyPr/>
                    <a:lstStyle/>
                    <a:p>
                      <a:r>
                        <a:rPr sz="1400" b="1">
                          <a:solidFill>
                            <a:srgbClr val="2A78D6"/>
                          </a:solidFill>
                          <a:latin typeface="Segoe UI"/>
                        </a:rPr>
                        <a:t>2.25 deg</a:t>
                      </a:r>
                    </a:p>
                  </a:txBody>
                  <a:tcPr>
                    <a:solidFill>
                      <a:srgbClr val="F2F1EC"/>
                    </a:solidFill>
                  </a:tcPr>
                </a:tc>
                <a:extLst>
                  <a:ext uri="{0D108BD9-81ED-4DB2-BD59-A6C34878D82A}">
                    <a16:rowId xmlns:a16="http://schemas.microsoft.com/office/drawing/2014/main" val="10001"/>
                  </a:ext>
                </a:extLst>
              </a:tr>
              <a:tr h="384048">
                <a:tc>
                  <a:txBody>
                    <a:bodyPr/>
                    <a:lstStyle/>
                    <a:p>
                      <a:r>
                        <a:rPr sz="1400" b="0">
                          <a:solidFill>
                            <a:srgbClr val="0B0B0B"/>
                          </a:solidFill>
                          <a:latin typeface="Segoe UI"/>
                        </a:rPr>
                        <a:t>9.25 x 12 cm</a:t>
                      </a:r>
                    </a:p>
                  </a:txBody>
                  <a:tcPr>
                    <a:solidFill>
                      <a:srgbClr val="FCFCFB"/>
                    </a:solidFill>
                  </a:tcPr>
                </a:tc>
                <a:tc>
                  <a:txBody>
                    <a:bodyPr/>
                    <a:lstStyle/>
                    <a:p>
                      <a:r>
                        <a:rPr sz="1400" b="0">
                          <a:solidFill>
                            <a:srgbClr val="0B0B0B"/>
                          </a:solidFill>
                          <a:latin typeface="Segoe UI"/>
                        </a:rPr>
                        <a:t>15.2 cm</a:t>
                      </a:r>
                    </a:p>
                  </a:txBody>
                  <a:tcPr>
                    <a:solidFill>
                      <a:srgbClr val="FCFCFB"/>
                    </a:solidFill>
                  </a:tcPr>
                </a:tc>
                <a:tc>
                  <a:txBody>
                    <a:bodyPr/>
                    <a:lstStyle/>
                    <a:p>
                      <a:r>
                        <a:rPr sz="1400" b="0">
                          <a:solidFill>
                            <a:srgbClr val="0B0B0B"/>
                          </a:solidFill>
                          <a:latin typeface="Segoe UI"/>
                        </a:rPr>
                        <a:t>1.30</a:t>
                      </a:r>
                    </a:p>
                  </a:txBody>
                  <a:tcPr>
                    <a:solidFill>
                      <a:srgbClr val="FCFCFB"/>
                    </a:solidFill>
                  </a:tcPr>
                </a:tc>
                <a:tc>
                  <a:txBody>
                    <a:bodyPr/>
                    <a:lstStyle/>
                    <a:p>
                      <a:r>
                        <a:rPr sz="1400" b="0">
                          <a:solidFill>
                            <a:srgbClr val="0B0B0B"/>
                          </a:solidFill>
                          <a:latin typeface="Segoe UI"/>
                        </a:rPr>
                        <a:t>0.70 deg</a:t>
                      </a:r>
                    </a:p>
                  </a:txBody>
                  <a:tcPr>
                    <a:solidFill>
                      <a:srgbClr val="FCFCFB"/>
                    </a:solidFill>
                  </a:tcPr>
                </a:tc>
                <a:tc>
                  <a:txBody>
                    <a:bodyPr/>
                    <a:lstStyle/>
                    <a:p>
                      <a:r>
                        <a:rPr sz="1400" b="0">
                          <a:solidFill>
                            <a:srgbClr val="0B0B0B"/>
                          </a:solidFill>
                          <a:latin typeface="Segoe UI"/>
                        </a:rPr>
                        <a:t>2.02 deg</a:t>
                      </a:r>
                    </a:p>
                  </a:txBody>
                  <a:tcPr>
                    <a:solidFill>
                      <a:srgbClr val="FCFCFB"/>
                    </a:solidFill>
                  </a:tcPr>
                </a:tc>
                <a:tc>
                  <a:txBody>
                    <a:bodyPr/>
                    <a:lstStyle/>
                    <a:p>
                      <a:r>
                        <a:rPr sz="1400" b="0">
                          <a:solidFill>
                            <a:srgbClr val="0B0B0B"/>
                          </a:solidFill>
                          <a:latin typeface="Segoe UI"/>
                        </a:rPr>
                        <a:t>2.14 deg</a:t>
                      </a:r>
                    </a:p>
                  </a:txBody>
                  <a:tcPr>
                    <a:solidFill>
                      <a:srgbClr val="FCFCFB"/>
                    </a:solidFill>
                  </a:tcPr>
                </a:tc>
                <a:extLst>
                  <a:ext uri="{0D108BD9-81ED-4DB2-BD59-A6C34878D82A}">
                    <a16:rowId xmlns:a16="http://schemas.microsoft.com/office/drawing/2014/main" val="10002"/>
                  </a:ext>
                </a:extLst>
              </a:tr>
              <a:tr h="384048">
                <a:tc>
                  <a:txBody>
                    <a:bodyPr/>
                    <a:lstStyle/>
                    <a:p>
                      <a:r>
                        <a:rPr sz="1400" b="0">
                          <a:solidFill>
                            <a:srgbClr val="0B0B0B"/>
                          </a:solidFill>
                          <a:latin typeface="Segoe UI"/>
                        </a:rPr>
                        <a:t>9.25 x 16 cm</a:t>
                      </a:r>
                    </a:p>
                  </a:txBody>
                  <a:tcPr>
                    <a:solidFill>
                      <a:srgbClr val="F2F1EC"/>
                    </a:solidFill>
                  </a:tcPr>
                </a:tc>
                <a:tc>
                  <a:txBody>
                    <a:bodyPr/>
                    <a:lstStyle/>
                    <a:p>
                      <a:r>
                        <a:rPr sz="1400" b="0">
                          <a:solidFill>
                            <a:srgbClr val="0B0B0B"/>
                          </a:solidFill>
                          <a:latin typeface="Segoe UI"/>
                        </a:rPr>
                        <a:t>18.5 cm</a:t>
                      </a:r>
                    </a:p>
                  </a:txBody>
                  <a:tcPr>
                    <a:solidFill>
                      <a:srgbClr val="F2F1EC"/>
                    </a:solidFill>
                  </a:tcPr>
                </a:tc>
                <a:tc>
                  <a:txBody>
                    <a:bodyPr/>
                    <a:lstStyle/>
                    <a:p>
                      <a:r>
                        <a:rPr sz="1400" b="0">
                          <a:solidFill>
                            <a:srgbClr val="0B0B0B"/>
                          </a:solidFill>
                          <a:latin typeface="Segoe UI"/>
                        </a:rPr>
                        <a:t>1.73</a:t>
                      </a:r>
                    </a:p>
                  </a:txBody>
                  <a:tcPr>
                    <a:solidFill>
                      <a:srgbClr val="F2F1EC"/>
                    </a:solidFill>
                  </a:tcPr>
                </a:tc>
                <a:tc>
                  <a:txBody>
                    <a:bodyPr/>
                    <a:lstStyle/>
                    <a:p>
                      <a:r>
                        <a:rPr sz="1400" b="0">
                          <a:solidFill>
                            <a:srgbClr val="0B0B0B"/>
                          </a:solidFill>
                          <a:latin typeface="Segoe UI"/>
                        </a:rPr>
                        <a:t>0.52 deg</a:t>
                      </a:r>
                    </a:p>
                  </a:txBody>
                  <a:tcPr>
                    <a:solidFill>
                      <a:srgbClr val="F2F1EC"/>
                    </a:solidFill>
                  </a:tcPr>
                </a:tc>
                <a:tc>
                  <a:txBody>
                    <a:bodyPr/>
                    <a:lstStyle/>
                    <a:p>
                      <a:r>
                        <a:rPr sz="1400" b="0">
                          <a:solidFill>
                            <a:srgbClr val="0B0B0B"/>
                          </a:solidFill>
                          <a:latin typeface="Segoe UI"/>
                        </a:rPr>
                        <a:t>1.19 deg</a:t>
                      </a:r>
                    </a:p>
                  </a:txBody>
                  <a:tcPr>
                    <a:solidFill>
                      <a:srgbClr val="F2F1EC"/>
                    </a:solidFill>
                  </a:tcPr>
                </a:tc>
                <a:tc>
                  <a:txBody>
                    <a:bodyPr/>
                    <a:lstStyle/>
                    <a:p>
                      <a:r>
                        <a:rPr sz="1400" b="0">
                          <a:solidFill>
                            <a:srgbClr val="0B0B0B"/>
                          </a:solidFill>
                          <a:latin typeface="Segoe UI"/>
                        </a:rPr>
                        <a:t>1.57 deg</a:t>
                      </a:r>
                    </a:p>
                  </a:txBody>
                  <a:tcPr>
                    <a:solidFill>
                      <a:srgbClr val="F2F1EC"/>
                    </a:solidFill>
                  </a:tcPr>
                </a:tc>
                <a:extLst>
                  <a:ext uri="{0D108BD9-81ED-4DB2-BD59-A6C34878D82A}">
                    <a16:rowId xmlns:a16="http://schemas.microsoft.com/office/drawing/2014/main" val="10003"/>
                  </a:ext>
                </a:extLst>
              </a:tr>
              <a:tr h="384048">
                <a:tc>
                  <a:txBody>
                    <a:bodyPr/>
                    <a:lstStyle/>
                    <a:p>
                      <a:r>
                        <a:rPr sz="1400" b="0">
                          <a:solidFill>
                            <a:srgbClr val="0B0B0B"/>
                          </a:solidFill>
                          <a:latin typeface="Segoe UI"/>
                        </a:rPr>
                        <a:t>10 cm square (sim reference)</a:t>
                      </a:r>
                    </a:p>
                  </a:txBody>
                  <a:tcPr>
                    <a:solidFill>
                      <a:srgbClr val="FCFCFB"/>
                    </a:solidFill>
                  </a:tcPr>
                </a:tc>
                <a:tc>
                  <a:txBody>
                    <a:bodyPr/>
                    <a:lstStyle/>
                    <a:p>
                      <a:r>
                        <a:rPr sz="1400" b="0">
                          <a:solidFill>
                            <a:srgbClr val="0B0B0B"/>
                          </a:solidFill>
                          <a:latin typeface="Segoe UI"/>
                        </a:rPr>
                        <a:t>14.1 cm</a:t>
                      </a:r>
                    </a:p>
                  </a:txBody>
                  <a:tcPr>
                    <a:solidFill>
                      <a:srgbClr val="FCFCFB"/>
                    </a:solidFill>
                  </a:tcPr>
                </a:tc>
                <a:tc>
                  <a:txBody>
                    <a:bodyPr/>
                    <a:lstStyle/>
                    <a:p>
                      <a:r>
                        <a:rPr sz="1400" b="0">
                          <a:solidFill>
                            <a:srgbClr val="0B0B0B"/>
                          </a:solidFill>
                          <a:latin typeface="Segoe UI"/>
                        </a:rPr>
                        <a:t>1.00</a:t>
                      </a:r>
                    </a:p>
                  </a:txBody>
                  <a:tcPr>
                    <a:solidFill>
                      <a:srgbClr val="FCFCFB"/>
                    </a:solidFill>
                  </a:tcPr>
                </a:tc>
                <a:tc>
                  <a:txBody>
                    <a:bodyPr/>
                    <a:lstStyle/>
                    <a:p>
                      <a:r>
                        <a:rPr sz="1400" b="0">
                          <a:solidFill>
                            <a:srgbClr val="0B0B0B"/>
                          </a:solidFill>
                          <a:latin typeface="Segoe UI"/>
                        </a:rPr>
                        <a:t>1.11 deg</a:t>
                      </a:r>
                    </a:p>
                  </a:txBody>
                  <a:tcPr>
                    <a:solidFill>
                      <a:srgbClr val="FCFCFB"/>
                    </a:solidFill>
                  </a:tcPr>
                </a:tc>
                <a:tc>
                  <a:txBody>
                    <a:bodyPr/>
                    <a:lstStyle/>
                    <a:p>
                      <a:r>
                        <a:rPr sz="1400" b="0">
                          <a:solidFill>
                            <a:srgbClr val="0B0B0B"/>
                          </a:solidFill>
                          <a:latin typeface="Segoe UI"/>
                        </a:rPr>
                        <a:t>2.33 deg</a:t>
                      </a:r>
                    </a:p>
                  </a:txBody>
                  <a:tcPr>
                    <a:solidFill>
                      <a:srgbClr val="FCFCFB"/>
                    </a:solidFill>
                  </a:tcPr>
                </a:tc>
                <a:tc>
                  <a:txBody>
                    <a:bodyPr/>
                    <a:lstStyle/>
                    <a:p>
                      <a:r>
                        <a:rPr sz="1400" b="0">
                          <a:solidFill>
                            <a:srgbClr val="0B0B0B"/>
                          </a:solidFill>
                          <a:latin typeface="Segoe UI"/>
                        </a:rPr>
                        <a:t>2.42 deg</a:t>
                      </a:r>
                    </a:p>
                  </a:txBody>
                  <a:tcPr>
                    <a:solidFill>
                      <a:srgbClr val="FCFCFB"/>
                    </a:solidFill>
                  </a:tcPr>
                </a:tc>
                <a:extLst>
                  <a:ext uri="{0D108BD9-81ED-4DB2-BD59-A6C34878D82A}">
                    <a16:rowId xmlns:a16="http://schemas.microsoft.com/office/drawing/2014/main" val="10004"/>
                  </a:ext>
                </a:extLst>
              </a:tr>
              <a:tr h="384048">
                <a:tc>
                  <a:txBody>
                    <a:bodyPr/>
                    <a:lstStyle/>
                    <a:p>
                      <a:r>
                        <a:rPr sz="1400" b="0">
                          <a:solidFill>
                            <a:srgbClr val="0B0B0B"/>
                          </a:solidFill>
                          <a:latin typeface="Segoe UI"/>
                        </a:rPr>
                        <a:t>2.8 x 10 cm (one breadboard)</a:t>
                      </a:r>
                    </a:p>
                  </a:txBody>
                  <a:tcPr>
                    <a:solidFill>
                      <a:srgbClr val="F2F1EC"/>
                    </a:solidFill>
                  </a:tcPr>
                </a:tc>
                <a:tc>
                  <a:txBody>
                    <a:bodyPr/>
                    <a:lstStyle/>
                    <a:p>
                      <a:r>
                        <a:rPr sz="1400" b="0">
                          <a:solidFill>
                            <a:srgbClr val="0B0B0B"/>
                          </a:solidFill>
                          <a:latin typeface="Segoe UI"/>
                        </a:rPr>
                        <a:t>10.4 cm</a:t>
                      </a:r>
                    </a:p>
                  </a:txBody>
                  <a:tcPr>
                    <a:solidFill>
                      <a:srgbClr val="F2F1EC"/>
                    </a:solidFill>
                  </a:tcPr>
                </a:tc>
                <a:tc>
                  <a:txBody>
                    <a:bodyPr/>
                    <a:lstStyle/>
                    <a:p>
                      <a:r>
                        <a:rPr sz="1400" b="0">
                          <a:solidFill>
                            <a:srgbClr val="0B0B0B"/>
                          </a:solidFill>
                          <a:latin typeface="Segoe UI"/>
                        </a:rPr>
                        <a:t>3.57</a:t>
                      </a:r>
                    </a:p>
                  </a:txBody>
                  <a:tcPr>
                    <a:solidFill>
                      <a:srgbClr val="F2F1EC"/>
                    </a:solidFill>
                  </a:tcPr>
                </a:tc>
                <a:tc>
                  <a:txBody>
                    <a:bodyPr/>
                    <a:lstStyle/>
                    <a:p>
                      <a:r>
                        <a:rPr sz="1400" b="0">
                          <a:solidFill>
                            <a:srgbClr val="0B0B0B"/>
                          </a:solidFill>
                          <a:latin typeface="Segoe UI"/>
                        </a:rPr>
                        <a:t>1.87 deg</a:t>
                      </a:r>
                    </a:p>
                  </a:txBody>
                  <a:tcPr>
                    <a:solidFill>
                      <a:srgbClr val="F2F1EC"/>
                    </a:solidFill>
                  </a:tcPr>
                </a:tc>
                <a:tc>
                  <a:txBody>
                    <a:bodyPr/>
                    <a:lstStyle/>
                    <a:p>
                      <a:r>
                        <a:rPr sz="1400" b="0">
                          <a:solidFill>
                            <a:srgbClr val="0B0B0B"/>
                          </a:solidFill>
                          <a:latin typeface="Segoe UI"/>
                        </a:rPr>
                        <a:t>7.80 deg</a:t>
                      </a:r>
                    </a:p>
                  </a:txBody>
                  <a:tcPr>
                    <a:solidFill>
                      <a:srgbClr val="F2F1EC"/>
                    </a:solidFill>
                  </a:tcPr>
                </a:tc>
                <a:tc>
                  <a:txBody>
                    <a:bodyPr/>
                    <a:lstStyle/>
                    <a:p>
                      <a:r>
                        <a:rPr sz="1400" b="0">
                          <a:solidFill>
                            <a:srgbClr val="0B0B0B"/>
                          </a:solidFill>
                          <a:latin typeface="Segoe UI"/>
                        </a:rPr>
                        <a:t>8.52 deg</a:t>
                      </a:r>
                    </a:p>
                  </a:txBody>
                  <a:tcPr>
                    <a:solidFill>
                      <a:srgbClr val="F2F1EC"/>
                    </a:solidFill>
                  </a:tcPr>
                </a:tc>
                <a:extLst>
                  <a:ext uri="{0D108BD9-81ED-4DB2-BD59-A6C34878D82A}">
                    <a16:rowId xmlns:a16="http://schemas.microsoft.com/office/drawing/2014/main" val="10005"/>
                  </a:ext>
                </a:extLst>
              </a:tr>
              <a:tr h="384048">
                <a:tc>
                  <a:txBody>
                    <a:bodyPr/>
                    <a:lstStyle/>
                    <a:p>
                      <a:r>
                        <a:rPr sz="1400" b="0">
                          <a:solidFill>
                            <a:srgbClr val="0B0B0B"/>
                          </a:solidFill>
                          <a:latin typeface="Segoe UI"/>
                        </a:rPr>
                        <a:t>2.5 cm square</a:t>
                      </a:r>
                    </a:p>
                  </a:txBody>
                  <a:tcPr>
                    <a:solidFill>
                      <a:srgbClr val="FCFCFB"/>
                    </a:solidFill>
                  </a:tcPr>
                </a:tc>
                <a:tc>
                  <a:txBody>
                    <a:bodyPr/>
                    <a:lstStyle/>
                    <a:p>
                      <a:r>
                        <a:rPr sz="1400" b="0">
                          <a:solidFill>
                            <a:srgbClr val="0B0B0B"/>
                          </a:solidFill>
                          <a:latin typeface="Segoe UI"/>
                        </a:rPr>
                        <a:t>3.5 cm</a:t>
                      </a:r>
                    </a:p>
                  </a:txBody>
                  <a:tcPr>
                    <a:solidFill>
                      <a:srgbClr val="FCFCFB"/>
                    </a:solidFill>
                  </a:tcPr>
                </a:tc>
                <a:tc>
                  <a:txBody>
                    <a:bodyPr/>
                    <a:lstStyle/>
                    <a:p>
                      <a:r>
                        <a:rPr sz="1400" b="0">
                          <a:solidFill>
                            <a:srgbClr val="0B0B0B"/>
                          </a:solidFill>
                          <a:latin typeface="Segoe UI"/>
                        </a:rPr>
                        <a:t>1.00</a:t>
                      </a:r>
                    </a:p>
                  </a:txBody>
                  <a:tcPr>
                    <a:solidFill>
                      <a:srgbClr val="FCFCFB"/>
                    </a:solidFill>
                  </a:tcPr>
                </a:tc>
                <a:tc>
                  <a:txBody>
                    <a:bodyPr/>
                    <a:lstStyle/>
                    <a:p>
                      <a:r>
                        <a:rPr sz="1400" b="0">
                          <a:solidFill>
                            <a:srgbClr val="0B0B0B"/>
                          </a:solidFill>
                          <a:latin typeface="Segoe UI"/>
                        </a:rPr>
                        <a:t>6.30 deg</a:t>
                      </a:r>
                    </a:p>
                  </a:txBody>
                  <a:tcPr>
                    <a:solidFill>
                      <a:srgbClr val="FCFCFB"/>
                    </a:solidFill>
                  </a:tcPr>
                </a:tc>
                <a:tc>
                  <a:txBody>
                    <a:bodyPr/>
                    <a:lstStyle/>
                    <a:p>
                      <a:r>
                        <a:rPr sz="1400" b="0">
                          <a:solidFill>
                            <a:srgbClr val="0B0B0B"/>
                          </a:solidFill>
                          <a:latin typeface="Segoe UI"/>
                        </a:rPr>
                        <a:t>8.59 deg</a:t>
                      </a:r>
                    </a:p>
                  </a:txBody>
                  <a:tcPr>
                    <a:solidFill>
                      <a:srgbClr val="FCFCFB"/>
                    </a:solidFill>
                  </a:tcPr>
                </a:tc>
                <a:tc>
                  <a:txBody>
                    <a:bodyPr/>
                    <a:lstStyle/>
                    <a:p>
                      <a:r>
                        <a:rPr sz="1400" b="0">
                          <a:solidFill>
                            <a:srgbClr val="0B0B0B"/>
                          </a:solidFill>
                          <a:latin typeface="Segoe UI"/>
                        </a:rPr>
                        <a:t>9.57 deg</a:t>
                      </a:r>
                    </a:p>
                  </a:txBody>
                  <a:tcPr>
                    <a:solidFill>
                      <a:srgbClr val="FCFCFB"/>
                    </a:solidFill>
                  </a:tcPr>
                </a:tc>
                <a:extLst>
                  <a:ext uri="{0D108BD9-81ED-4DB2-BD59-A6C34878D82A}">
                    <a16:rowId xmlns:a16="http://schemas.microsoft.com/office/drawing/2014/main" val="10006"/>
                  </a:ext>
                </a:extLst>
              </a:tr>
            </a:tbl>
          </a:graphicData>
        </a:graphic>
      </p:graphicFrame>
      <p:sp>
        <p:nvSpPr>
          <p:cNvPr id="5" name="TextBox 4"/>
          <p:cNvSpPr txBox="1"/>
          <p:nvPr/>
        </p:nvSpPr>
        <p:spPr>
          <a:xfrm>
            <a:off x="566928" y="4517136"/>
            <a:ext cx="11064240" cy="1280160"/>
          </a:xfrm>
          <a:prstGeom prst="rect">
            <a:avLst/>
          </a:prstGeom>
          <a:noFill/>
        </p:spPr>
        <p:txBody>
          <a:bodyPr wrap="square">
            <a:spAutoFit/>
          </a:bodyPr>
          <a:lstStyle/>
          <a:p>
            <a:pPr algn="l">
              <a:spcAft>
                <a:spcPts val="1000"/>
              </a:spcAft>
            </a:pPr>
            <a:r>
              <a:rPr sz="1500" b="0" dirty="0">
                <a:solidFill>
                  <a:srgbClr val="52514E"/>
                </a:solidFill>
                <a:latin typeface="Segoe UI"/>
              </a:rPr>
              <a:t>Simulation only: 36 angles x 3 trials, 2 m source, 20 dB SNR. No reverberation, and the estimator is handed the exact geometry, so this </a:t>
            </a:r>
            <a:r>
              <a:rPr lang="en-US" sz="1500" b="0" dirty="0">
                <a:solidFill>
                  <a:srgbClr val="52514E"/>
                </a:solidFill>
                <a:latin typeface="Segoe UI"/>
              </a:rPr>
              <a:t>RANKS</a:t>
            </a:r>
            <a:r>
              <a:rPr sz="1500" b="0" dirty="0">
                <a:solidFill>
                  <a:srgbClr val="52514E"/>
                </a:solidFill>
                <a:latin typeface="Segoe UI"/>
              </a:rPr>
              <a:t> layouts rather than predicts real accuracy.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How correctness was established</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600200"/>
            <a:ext cx="11064240" cy="4480560"/>
          </a:xfrm>
          <a:prstGeom prst="rect">
            <a:avLst/>
          </a:prstGeom>
          <a:noFill/>
        </p:spPr>
        <p:txBody>
          <a:bodyPr wrap="square">
            <a:spAutoFit/>
          </a:bodyPr>
          <a:lstStyle/>
          <a:p>
            <a:pPr algn="l">
              <a:spcAft>
                <a:spcPts val="1400"/>
              </a:spcAft>
            </a:pPr>
            <a:r>
              <a:rPr sz="1900" b="0">
                <a:solidFill>
                  <a:srgbClr val="0B0B0B"/>
                </a:solidFill>
                <a:latin typeface="Segoe UI"/>
              </a:rPr>
              <a:t>•  Build ONE trusted reference, check everything against it</a:t>
            </a:r>
          </a:p>
          <a:p>
            <a:pPr algn="l">
              <a:spcAft>
                <a:spcPts val="1400"/>
              </a:spcAft>
            </a:pPr>
            <a:r>
              <a:rPr sz="1900" b="0">
                <a:solidFill>
                  <a:srgbClr val="0B0B0B"/>
                </a:solidFill>
                <a:latin typeface="Segoe UI"/>
              </a:rPr>
              <a:t>•  1.  Verify in simulation, where truth is known</a:t>
            </a:r>
          </a:p>
          <a:p>
            <a:pPr algn="l">
              <a:spcAft>
                <a:spcPts val="1400"/>
              </a:spcAft>
            </a:pPr>
            <a:r>
              <a:rPr sz="1900" b="0">
                <a:solidFill>
                  <a:srgbClr val="0B0B0B"/>
                </a:solidFill>
                <a:latin typeface="Segoe UI"/>
              </a:rPr>
              <a:t>•  2.  Prove channel sync separately from geometry</a:t>
            </a:r>
          </a:p>
          <a:p>
            <a:pPr algn="l">
              <a:spcAft>
                <a:spcPts val="1400"/>
              </a:spcAft>
            </a:pPr>
            <a:r>
              <a:rPr sz="1900" b="0">
                <a:solidFill>
                  <a:srgbClr val="0B0B0B"/>
                </a:solidFill>
                <a:latin typeface="Segoe UI"/>
              </a:rPr>
              <a:t>•  3.  Share code between the test and the reference so they cannot drift</a:t>
            </a:r>
          </a:p>
          <a:p>
            <a:pPr algn="l">
              <a:spcAft>
                <a:spcPts val="1400"/>
              </a:spcAft>
            </a:pPr>
            <a:r>
              <a:rPr sz="1900" b="0">
                <a:solidFill>
                  <a:srgbClr val="0B0B0B"/>
                </a:solidFill>
                <a:latin typeface="Segoe UI"/>
              </a:rPr>
              <a:t>•  4.  Compare the embedded port to the reference on identical samples</a:t>
            </a:r>
          </a:p>
          <a:p>
            <a:pPr algn="l">
              <a:spcAft>
                <a:spcPts val="800"/>
              </a:spcAft>
            </a:pPr>
            <a:r>
              <a:rPr sz="1700" b="0">
                <a:solidFill>
                  <a:srgbClr val="52514E"/>
                </a:solidFill>
                <a:latin typeface="Segoe UI"/>
              </a:rPr>
              <a:t>Simulation: delay bias under 0.001 samples, angle error under 0.1 deg, about 0.4 deg at 0 dB SNR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One clap, as the array actually heard it</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325880"/>
            <a:ext cx="11064240" cy="420624"/>
          </a:xfrm>
          <a:prstGeom prst="rect">
            <a:avLst/>
          </a:prstGeom>
          <a:noFill/>
        </p:spPr>
        <p:txBody>
          <a:bodyPr wrap="square">
            <a:spAutoFit/>
          </a:bodyPr>
          <a:lstStyle/>
          <a:p>
            <a:pPr algn="l">
              <a:spcAft>
                <a:spcPts val="0"/>
              </a:spcAft>
            </a:pPr>
            <a:r>
              <a:rPr sz="1700" b="0">
                <a:solidFill>
                  <a:srgbClr val="0B0B0B"/>
                </a:solidFill>
                <a:latin typeface="Segoe UI"/>
              </a:rPr>
              <a:t>One real clap, arriving at the four mics in turn</a:t>
            </a:r>
          </a:p>
        </p:txBody>
      </p:sp>
      <p:pic>
        <p:nvPicPr>
          <p:cNvPr id="5" name="Picture 4" descr="fig_channels.png"/>
          <p:cNvPicPr>
            <a:picLocks noChangeAspect="1"/>
          </p:cNvPicPr>
          <p:nvPr/>
        </p:nvPicPr>
        <p:blipFill>
          <a:blip r:embed="rId3"/>
          <a:stretch>
            <a:fillRect/>
          </a:stretch>
        </p:blipFill>
        <p:spPr>
          <a:xfrm>
            <a:off x="566928" y="1856231"/>
            <a:ext cx="5734661" cy="3703320"/>
          </a:xfrm>
          <a:prstGeom prst="rect">
            <a:avLst/>
          </a:prstGeom>
        </p:spPr>
      </p:pic>
      <p:sp>
        <p:nvSpPr>
          <p:cNvPr id="6" name="TextBox 5"/>
          <p:cNvSpPr txBox="1"/>
          <p:nvPr/>
        </p:nvSpPr>
        <p:spPr>
          <a:xfrm>
            <a:off x="566928" y="5669279"/>
            <a:ext cx="5734661" cy="777240"/>
          </a:xfrm>
          <a:prstGeom prst="rect">
            <a:avLst/>
          </a:prstGeom>
          <a:noFill/>
        </p:spPr>
        <p:txBody>
          <a:bodyPr wrap="square">
            <a:spAutoFit/>
          </a:bodyPr>
          <a:lstStyle/>
          <a:p>
            <a:pPr algn="l">
              <a:spcAft>
                <a:spcPts val="0"/>
              </a:spcAft>
            </a:pPr>
            <a:r>
              <a:rPr sz="1350" b="0">
                <a:solidFill>
                  <a:srgbClr val="52514E"/>
                </a:solidFill>
                <a:latin typeface="Segoe UI"/>
              </a:rPr>
              <a:t>2026-07-29-sweep angle135 trial3, a clap from a true 135 deg. Dashed line is mic0's arrival, carried down the stack so the shift is measured against something fixed. Delays are the GCC-PHAT values, not eyeballed from the traces.</a:t>
            </a:r>
          </a:p>
        </p:txBody>
      </p:sp>
      <p:sp>
        <p:nvSpPr>
          <p:cNvPr id="7" name="TextBox 6"/>
          <p:cNvSpPr txBox="1"/>
          <p:nvPr/>
        </p:nvSpPr>
        <p:spPr>
          <a:xfrm>
            <a:off x="6621629" y="1856231"/>
            <a:ext cx="5112866" cy="4023360"/>
          </a:xfrm>
          <a:prstGeom prst="rect">
            <a:avLst/>
          </a:prstGeom>
          <a:noFill/>
        </p:spPr>
        <p:txBody>
          <a:bodyPr wrap="square">
            <a:spAutoFit/>
          </a:bodyPr>
          <a:lstStyle/>
          <a:p>
            <a:pPr algn="l">
              <a:spcAft>
                <a:spcPts val="1300"/>
              </a:spcAft>
            </a:pPr>
            <a:r>
              <a:rPr sz="1550" b="0" dirty="0">
                <a:solidFill>
                  <a:srgbClr val="0B0B0B"/>
                </a:solidFill>
                <a:latin typeface="Segoe UI"/>
              </a:rPr>
              <a:t>•  Real capture, not a simulation</a:t>
            </a:r>
          </a:p>
          <a:p>
            <a:pPr algn="l">
              <a:spcAft>
                <a:spcPts val="1300"/>
              </a:spcAft>
            </a:pPr>
            <a:r>
              <a:rPr sz="1550" b="0" dirty="0">
                <a:solidFill>
                  <a:srgbClr val="0B0B0B"/>
                </a:solidFill>
                <a:latin typeface="Segoe UI"/>
              </a:rPr>
              <a:t>•  The same waveform, four times, shifted</a:t>
            </a:r>
          </a:p>
          <a:p>
            <a:pPr algn="l">
              <a:spcAft>
                <a:spcPts val="1300"/>
              </a:spcAft>
            </a:pPr>
            <a:r>
              <a:rPr sz="1550" b="0" dirty="0">
                <a:solidFill>
                  <a:srgbClr val="0B0B0B"/>
                </a:solidFill>
                <a:latin typeface="Segoe UI"/>
              </a:rPr>
              <a:t>•  Delays here are 2.970, 3.144 and 6.165 samples</a:t>
            </a:r>
          </a:p>
          <a:p>
            <a:pPr algn="l">
              <a:spcAft>
                <a:spcPts val="1300"/>
              </a:spcAft>
            </a:pPr>
            <a:r>
              <a:rPr sz="1550" b="0" dirty="0">
                <a:solidFill>
                  <a:srgbClr val="0B0B0B"/>
                </a:solidFill>
                <a:latin typeface="Segoe UI"/>
              </a:rPr>
              <a:t>•  That is 6.4, 6.7 and 13.2 cm of extra path</a:t>
            </a:r>
          </a:p>
          <a:p>
            <a:pPr algn="l">
              <a:spcAft>
                <a:spcPts val="1300"/>
              </a:spcAft>
            </a:pPr>
            <a:r>
              <a:rPr sz="1550" b="0" dirty="0">
                <a:solidFill>
                  <a:srgbClr val="0B0B0B"/>
                </a:solidFill>
                <a:latin typeface="Segoe UI"/>
              </a:rPr>
              <a:t>•  The whole bearing comes out of numbers this small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What GCC-PHAT does with it</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325880"/>
            <a:ext cx="11064240" cy="420624"/>
          </a:xfrm>
          <a:prstGeom prst="rect">
            <a:avLst/>
          </a:prstGeom>
          <a:noFill/>
        </p:spPr>
        <p:txBody>
          <a:bodyPr wrap="square">
            <a:spAutoFit/>
          </a:bodyPr>
          <a:lstStyle/>
          <a:p>
            <a:pPr algn="l">
              <a:spcAft>
                <a:spcPts val="0"/>
              </a:spcAft>
            </a:pPr>
            <a:r>
              <a:rPr sz="1700" b="0">
                <a:solidFill>
                  <a:srgbClr val="0B0B0B"/>
                </a:solidFill>
                <a:latin typeface="Segoe UI"/>
              </a:rPr>
              <a:t>GCC-PHAT on that same clap, one mic pair</a:t>
            </a:r>
          </a:p>
        </p:txBody>
      </p:sp>
      <p:pic>
        <p:nvPicPr>
          <p:cNvPr id="5" name="Picture 4" descr="fig_gccphat.png"/>
          <p:cNvPicPr>
            <a:picLocks noChangeAspect="1"/>
          </p:cNvPicPr>
          <p:nvPr/>
        </p:nvPicPr>
        <p:blipFill>
          <a:blip r:embed="rId3"/>
          <a:stretch>
            <a:fillRect/>
          </a:stretch>
        </p:blipFill>
        <p:spPr>
          <a:xfrm>
            <a:off x="2744893" y="1856231"/>
            <a:ext cx="6701909" cy="3246120"/>
          </a:xfrm>
          <a:prstGeom prst="rect">
            <a:avLst/>
          </a:prstGeom>
        </p:spPr>
      </p:pic>
      <p:sp>
        <p:nvSpPr>
          <p:cNvPr id="6" name="TextBox 5"/>
          <p:cNvSpPr txBox="1"/>
          <p:nvPr/>
        </p:nvSpPr>
        <p:spPr>
          <a:xfrm>
            <a:off x="2744893" y="5230367"/>
            <a:ext cx="6701909" cy="411480"/>
          </a:xfrm>
          <a:prstGeom prst="rect">
            <a:avLst/>
          </a:prstGeom>
          <a:noFill/>
        </p:spPr>
        <p:txBody>
          <a:bodyPr wrap="square">
            <a:spAutoFit/>
          </a:bodyPr>
          <a:lstStyle/>
          <a:p>
            <a:pPr algn="l">
              <a:spcAft>
                <a:spcPts val="0"/>
              </a:spcAft>
            </a:pPr>
            <a:r>
              <a:rPr sz="1350" b="0">
                <a:solidFill>
                  <a:srgbClr val="52514E"/>
                </a:solidFill>
                <a:latin typeface="Segoe UI"/>
              </a:rPr>
              <a:t>Whole samples are all the correlation has. The parabola through the peak and its two neighbours puts the answer between them.</a:t>
            </a:r>
          </a:p>
        </p:txBody>
      </p:sp>
      <p:sp>
        <p:nvSpPr>
          <p:cNvPr id="7" name="TextBox 6"/>
          <p:cNvSpPr txBox="1"/>
          <p:nvPr/>
        </p:nvSpPr>
        <p:spPr>
          <a:xfrm>
            <a:off x="566928" y="5687567"/>
            <a:ext cx="11064240" cy="731520"/>
          </a:xfrm>
          <a:prstGeom prst="rect">
            <a:avLst/>
          </a:prstGeom>
          <a:noFill/>
        </p:spPr>
        <p:txBody>
          <a:bodyPr wrap="square">
            <a:spAutoFit/>
          </a:bodyPr>
          <a:lstStyle/>
          <a:p>
            <a:pPr algn="l">
              <a:spcAft>
                <a:spcPts val="1000"/>
              </a:spcAft>
            </a:pPr>
            <a:r>
              <a:rPr sz="1500" b="0">
                <a:solidFill>
                  <a:srgbClr val="52514E"/>
                </a:solidFill>
                <a:latin typeface="Segoe UI"/>
              </a:rPr>
              <a:t>Same clap, mics 0 and 2. The search is restricted to the delays the 9.9 cm spacing physically permits, which throws away most of the places a wrong answer could hide.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553998"/>
          </a:xfrm>
          <a:prstGeom prst="rect">
            <a:avLst/>
          </a:prstGeom>
          <a:noFill/>
        </p:spPr>
        <p:txBody>
          <a:bodyPr wrap="square">
            <a:spAutoFit/>
          </a:bodyPr>
          <a:lstStyle/>
          <a:p>
            <a:pPr algn="l">
              <a:spcAft>
                <a:spcPts val="0"/>
              </a:spcAft>
            </a:pPr>
            <a:r>
              <a:rPr sz="3000" b="1" dirty="0">
                <a:solidFill>
                  <a:srgbClr val="0B0B0B"/>
                </a:solidFill>
                <a:latin typeface="Segoe UI"/>
              </a:rPr>
              <a:t>what the board printed for that same clap</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325880"/>
            <a:ext cx="11064240" cy="420624"/>
          </a:xfrm>
          <a:prstGeom prst="rect">
            <a:avLst/>
          </a:prstGeom>
          <a:noFill/>
        </p:spPr>
        <p:txBody>
          <a:bodyPr wrap="square">
            <a:spAutoFit/>
          </a:bodyPr>
          <a:lstStyle/>
          <a:p>
            <a:pPr algn="l">
              <a:spcAft>
                <a:spcPts val="0"/>
              </a:spcAft>
            </a:pPr>
            <a:r>
              <a:rPr sz="1700" b="0">
                <a:solidFill>
                  <a:srgbClr val="0B0B0B"/>
                </a:solidFill>
                <a:latin typeface="Segoe UI"/>
              </a:rPr>
              <a:t>What the board itself printed for that clap</a:t>
            </a:r>
          </a:p>
        </p:txBody>
      </p:sp>
      <p:pic>
        <p:nvPicPr>
          <p:cNvPr id="5" name="Picture 4" descr="fig_report.png"/>
          <p:cNvPicPr>
            <a:picLocks noChangeAspect="1"/>
          </p:cNvPicPr>
          <p:nvPr/>
        </p:nvPicPr>
        <p:blipFill>
          <a:blip r:embed="rId3"/>
          <a:stretch>
            <a:fillRect/>
          </a:stretch>
        </p:blipFill>
        <p:spPr>
          <a:xfrm>
            <a:off x="566928" y="1856231"/>
            <a:ext cx="5463065" cy="3246120"/>
          </a:xfrm>
          <a:prstGeom prst="rect">
            <a:avLst/>
          </a:prstGeom>
        </p:spPr>
      </p:pic>
      <p:sp>
        <p:nvSpPr>
          <p:cNvPr id="6" name="TextBox 5"/>
          <p:cNvSpPr txBox="1"/>
          <p:nvPr/>
        </p:nvSpPr>
        <p:spPr>
          <a:xfrm>
            <a:off x="566928" y="5212079"/>
            <a:ext cx="5463065" cy="777240"/>
          </a:xfrm>
          <a:prstGeom prst="rect">
            <a:avLst/>
          </a:prstGeom>
          <a:noFill/>
        </p:spPr>
        <p:txBody>
          <a:bodyPr wrap="square">
            <a:spAutoFit/>
          </a:bodyPr>
          <a:lstStyle/>
          <a:p>
            <a:pPr algn="l">
              <a:spcAft>
                <a:spcPts val="0"/>
              </a:spcAft>
            </a:pPr>
            <a:r>
              <a:rPr sz="1350" b="0">
                <a:solidFill>
                  <a:srgbClr val="52514E"/>
                </a:solidFill>
                <a:latin typeface="Segoe UI"/>
              </a:rPr>
              <a:t>Saved verbatim beside the samples that produced it. The board computed this on its own with CMSIS-DSP; the PC only received the text.</a:t>
            </a:r>
          </a:p>
        </p:txBody>
      </p:sp>
      <p:sp>
        <p:nvSpPr>
          <p:cNvPr id="7" name="TextBox 6"/>
          <p:cNvSpPr txBox="1"/>
          <p:nvPr/>
        </p:nvSpPr>
        <p:spPr>
          <a:xfrm>
            <a:off x="6350033" y="1856231"/>
            <a:ext cx="5384462" cy="2023631"/>
          </a:xfrm>
          <a:prstGeom prst="rect">
            <a:avLst/>
          </a:prstGeom>
          <a:noFill/>
        </p:spPr>
        <p:txBody>
          <a:bodyPr wrap="square">
            <a:spAutoFit/>
          </a:bodyPr>
          <a:lstStyle/>
          <a:p>
            <a:pPr algn="l">
              <a:spcAft>
                <a:spcPts val="1300"/>
              </a:spcAft>
            </a:pPr>
            <a:r>
              <a:rPr sz="1550" b="0" dirty="0">
                <a:solidFill>
                  <a:srgbClr val="0B0B0B"/>
                </a:solidFill>
                <a:latin typeface="Segoe UI"/>
              </a:rPr>
              <a:t>•  The board computed this itself, with CMSIS-DSP</a:t>
            </a:r>
          </a:p>
          <a:p>
            <a:pPr algn="l">
              <a:spcAft>
                <a:spcPts val="1300"/>
              </a:spcAft>
            </a:pPr>
            <a:r>
              <a:rPr sz="1550" b="0" dirty="0">
                <a:solidFill>
                  <a:srgbClr val="0B0B0B"/>
                </a:solidFill>
                <a:latin typeface="Segoe UI"/>
              </a:rPr>
              <a:t>•  The PC only received the text</a:t>
            </a:r>
          </a:p>
          <a:p>
            <a:pPr algn="l">
              <a:spcAft>
                <a:spcPts val="1300"/>
              </a:spcAft>
            </a:pPr>
            <a:r>
              <a:rPr sz="1550" b="0" dirty="0">
                <a:solidFill>
                  <a:srgbClr val="0B0B0B"/>
                </a:solidFill>
                <a:latin typeface="Segoe UI"/>
              </a:rPr>
              <a:t>•  Saved next to the samples that produced it</a:t>
            </a:r>
            <a:r>
              <a:rPr lang="en-US" sz="1550" b="0" dirty="0">
                <a:solidFill>
                  <a:srgbClr val="0B0B0B"/>
                </a:solidFill>
                <a:latin typeface="Segoe UI"/>
              </a:rPr>
              <a:t>.</a:t>
            </a:r>
            <a:r>
              <a:rPr sz="1550" b="0" dirty="0">
                <a:solidFill>
                  <a:srgbClr val="0B0B0B"/>
                </a:solidFill>
                <a:latin typeface="Segoe UI"/>
              </a:rPr>
              <a:t> Which is what makes the acceptance test possible</a:t>
            </a:r>
          </a:p>
          <a:p>
            <a:pPr algn="l">
              <a:spcAft>
                <a:spcPts val="1300"/>
              </a:spcAft>
            </a:pPr>
            <a:r>
              <a:rPr sz="1550" b="0" dirty="0">
                <a:solidFill>
                  <a:srgbClr val="0B0B0B"/>
                </a:solidFill>
                <a:latin typeface="Segoe UI"/>
              </a:rPr>
              <a:t>•  All 44 captures: delays agree to 0.000 samples, bearings to 0.004 deg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553998"/>
          </a:xfrm>
          <a:prstGeom prst="rect">
            <a:avLst/>
          </a:prstGeom>
          <a:noFill/>
        </p:spPr>
        <p:txBody>
          <a:bodyPr wrap="square">
            <a:spAutoFit/>
          </a:bodyPr>
          <a:lstStyle/>
          <a:p>
            <a:pPr algn="l">
              <a:spcAft>
                <a:spcPts val="0"/>
              </a:spcAft>
            </a:pPr>
            <a:r>
              <a:rPr sz="3000" b="1" dirty="0">
                <a:solidFill>
                  <a:srgbClr val="0B0B0B"/>
                </a:solidFill>
                <a:latin typeface="Segoe UI"/>
              </a:rPr>
              <a:t>Result</a:t>
            </a:r>
            <a:r>
              <a:rPr lang="en-US" sz="3000" b="1" dirty="0">
                <a:solidFill>
                  <a:srgbClr val="0B0B0B"/>
                </a:solidFill>
                <a:latin typeface="Segoe UI"/>
              </a:rPr>
              <a:t>s</a:t>
            </a:r>
            <a:endParaRPr sz="3000" b="1" dirty="0">
              <a:solidFill>
                <a:srgbClr val="0B0B0B"/>
              </a:solidFill>
              <a:latin typeface="Segoe UI"/>
            </a:endParaRP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325880"/>
            <a:ext cx="11064240" cy="420624"/>
          </a:xfrm>
          <a:prstGeom prst="rect">
            <a:avLst/>
          </a:prstGeom>
          <a:noFill/>
        </p:spPr>
        <p:txBody>
          <a:bodyPr wrap="square">
            <a:spAutoFit/>
          </a:bodyPr>
          <a:lstStyle/>
          <a:p>
            <a:pPr algn="l">
              <a:spcAft>
                <a:spcPts val="0"/>
              </a:spcAft>
            </a:pPr>
            <a:r>
              <a:rPr sz="1700" b="0">
                <a:solidFill>
                  <a:srgbClr val="0B0B0B"/>
                </a:solidFill>
                <a:latin typeface="Segoe UI"/>
              </a:rPr>
              <a:t>1.11 degrees mean error across eight angles</a:t>
            </a:r>
          </a:p>
        </p:txBody>
      </p:sp>
      <p:pic>
        <p:nvPicPr>
          <p:cNvPr id="5" name="Picture 4" descr="fig_sweep.png"/>
          <p:cNvPicPr>
            <a:picLocks noChangeAspect="1"/>
          </p:cNvPicPr>
          <p:nvPr/>
        </p:nvPicPr>
        <p:blipFill>
          <a:blip r:embed="rId3"/>
          <a:stretch>
            <a:fillRect/>
          </a:stretch>
        </p:blipFill>
        <p:spPr>
          <a:xfrm>
            <a:off x="3123241" y="1856231"/>
            <a:ext cx="5945212" cy="3291840"/>
          </a:xfrm>
          <a:prstGeom prst="rect">
            <a:avLst/>
          </a:prstGeom>
        </p:spPr>
      </p:pic>
      <p:sp>
        <p:nvSpPr>
          <p:cNvPr id="6" name="TextBox 5"/>
          <p:cNvSpPr txBox="1"/>
          <p:nvPr/>
        </p:nvSpPr>
        <p:spPr>
          <a:xfrm>
            <a:off x="3123241" y="5276087"/>
            <a:ext cx="5945212" cy="411480"/>
          </a:xfrm>
          <a:prstGeom prst="rect">
            <a:avLst/>
          </a:prstGeom>
          <a:noFill/>
        </p:spPr>
        <p:txBody>
          <a:bodyPr wrap="square">
            <a:spAutoFit/>
          </a:bodyPr>
          <a:lstStyle/>
          <a:p>
            <a:pPr algn="l">
              <a:spcAft>
                <a:spcPts val="0"/>
              </a:spcAft>
            </a:pPr>
            <a:r>
              <a:rPr sz="1350" b="0">
                <a:solidFill>
                  <a:srgbClr val="52514E"/>
                </a:solidFill>
                <a:latin typeface="Segoe UI"/>
              </a:rPr>
              <a:t>39 claps, source 1.1 m out, 2.1 m of wall clearance. Worst single clap 4.04 deg. Bars are the trial-to-trial spread at each angle.</a:t>
            </a:r>
          </a:p>
        </p:txBody>
      </p:sp>
      <p:sp>
        <p:nvSpPr>
          <p:cNvPr id="7" name="TextBox 6"/>
          <p:cNvSpPr txBox="1"/>
          <p:nvPr/>
        </p:nvSpPr>
        <p:spPr>
          <a:xfrm>
            <a:off x="566928" y="5733287"/>
            <a:ext cx="11064240" cy="731520"/>
          </a:xfrm>
          <a:prstGeom prst="rect">
            <a:avLst/>
          </a:prstGeom>
          <a:noFill/>
        </p:spPr>
        <p:txBody>
          <a:bodyPr wrap="square">
            <a:spAutoFit/>
          </a:bodyPr>
          <a:lstStyle/>
          <a:p>
            <a:pPr algn="l">
              <a:spcAft>
                <a:spcPts val="1000"/>
              </a:spcAft>
            </a:pPr>
            <a:r>
              <a:rPr sz="1500" b="0">
                <a:solidFill>
                  <a:srgbClr val="52514E"/>
                </a:solidFill>
                <a:latin typeface="Segoe UI"/>
              </a:rPr>
              <a:t>Simulation on the same geometry, with no reverberation and exact geometry handed to it, gives 0.99 deg. The real array is at the simulation's own accuracy floor.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What dominated the error</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325880"/>
            <a:ext cx="11064240" cy="420624"/>
          </a:xfrm>
          <a:prstGeom prst="rect">
            <a:avLst/>
          </a:prstGeom>
          <a:noFill/>
        </p:spPr>
        <p:txBody>
          <a:bodyPr wrap="square">
            <a:spAutoFit/>
          </a:bodyPr>
          <a:lstStyle/>
          <a:p>
            <a:pPr algn="l">
              <a:spcAft>
                <a:spcPts val="0"/>
              </a:spcAft>
            </a:pPr>
            <a:r>
              <a:rPr sz="1700" b="0">
                <a:solidFill>
                  <a:srgbClr val="0B0B0B"/>
                </a:solidFill>
                <a:latin typeface="Segoe UI"/>
              </a:rPr>
              <a:t>Same code, same array, same room. Only the wall moved.</a:t>
            </a:r>
          </a:p>
        </p:txBody>
      </p:sp>
      <p:pic>
        <p:nvPicPr>
          <p:cNvPr id="5" name="Picture 4" descr="fig_wall.png"/>
          <p:cNvPicPr>
            <a:picLocks noChangeAspect="1"/>
          </p:cNvPicPr>
          <p:nvPr/>
        </p:nvPicPr>
        <p:blipFill>
          <a:blip r:embed="rId3"/>
          <a:srcRect r="50944"/>
          <a:stretch>
            <a:fillRect/>
          </a:stretch>
        </p:blipFill>
        <p:spPr>
          <a:xfrm>
            <a:off x="3094564" y="1865375"/>
            <a:ext cx="3606944" cy="3749039"/>
          </a:xfrm>
          <a:prstGeom prst="rect">
            <a:avLst/>
          </a:prstGeom>
        </p:spPr>
      </p:pic>
      <p:sp>
        <p:nvSpPr>
          <p:cNvPr id="6" name="TextBox 5"/>
          <p:cNvSpPr txBox="1"/>
          <p:nvPr/>
        </p:nvSpPr>
        <p:spPr>
          <a:xfrm>
            <a:off x="566928" y="5733286"/>
            <a:ext cx="11064240" cy="731520"/>
          </a:xfrm>
          <a:prstGeom prst="rect">
            <a:avLst/>
          </a:prstGeom>
          <a:noFill/>
        </p:spPr>
        <p:txBody>
          <a:bodyPr wrap="square">
            <a:spAutoFit/>
          </a:bodyPr>
          <a:lstStyle/>
          <a:p>
            <a:pPr algn="l">
              <a:spcAft>
                <a:spcPts val="1000"/>
              </a:spcAft>
            </a:pPr>
            <a:r>
              <a:rPr sz="1500" b="0">
                <a:solidFill>
                  <a:srgbClr val="52514E"/>
                </a:solidFill>
                <a:latin typeface="Segoe UI"/>
              </a:rPr>
              <a:t>At 65 cm the wall reflection arrived inside the analysis window and corrupted one specific mic pair. Moving to 2.1 m fixed it with no code change at all.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Does the fourth microphone earn its place?</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325880"/>
            <a:ext cx="11064240" cy="420624"/>
          </a:xfrm>
          <a:prstGeom prst="rect">
            <a:avLst/>
          </a:prstGeom>
          <a:noFill/>
        </p:spPr>
        <p:txBody>
          <a:bodyPr wrap="square">
            <a:spAutoFit/>
          </a:bodyPr>
          <a:lstStyle/>
          <a:p>
            <a:pPr algn="l">
              <a:spcAft>
                <a:spcPts val="0"/>
              </a:spcAft>
            </a:pPr>
            <a:r>
              <a:rPr sz="1700" b="0">
                <a:solidFill>
                  <a:srgbClr val="0B0B0B"/>
                </a:solidFill>
                <a:latin typeface="Segoe UI"/>
              </a:rPr>
              <a:t>Would three mics have done? Scored on the same 39 claps</a:t>
            </a:r>
          </a:p>
        </p:txBody>
      </p:sp>
      <p:pic>
        <p:nvPicPr>
          <p:cNvPr id="5" name="Picture 4" descr="fig_miccount.png"/>
          <p:cNvPicPr>
            <a:picLocks noChangeAspect="1"/>
          </p:cNvPicPr>
          <p:nvPr/>
        </p:nvPicPr>
        <p:blipFill>
          <a:blip r:embed="rId3"/>
          <a:srcRect r="38747"/>
          <a:stretch>
            <a:fillRect/>
          </a:stretch>
        </p:blipFill>
        <p:spPr>
          <a:xfrm>
            <a:off x="1768921" y="1856231"/>
            <a:ext cx="5300802" cy="3246120"/>
          </a:xfrm>
          <a:prstGeom prst="rect">
            <a:avLst/>
          </a:prstGeom>
        </p:spPr>
      </p:pic>
      <p:sp>
        <p:nvSpPr>
          <p:cNvPr id="6" name="TextBox 5"/>
          <p:cNvSpPr txBox="1"/>
          <p:nvPr/>
        </p:nvSpPr>
        <p:spPr>
          <a:xfrm>
            <a:off x="1768921" y="5230367"/>
            <a:ext cx="8653852" cy="411480"/>
          </a:xfrm>
          <a:prstGeom prst="rect">
            <a:avLst/>
          </a:prstGeom>
          <a:noFill/>
        </p:spPr>
        <p:txBody>
          <a:bodyPr wrap="square">
            <a:spAutoFit/>
          </a:bodyPr>
          <a:lstStyle/>
          <a:p>
            <a:pPr algn="l">
              <a:spcAft>
                <a:spcPts val="0"/>
              </a:spcAft>
            </a:pPr>
            <a:r>
              <a:rPr sz="1350" b="0">
                <a:solidFill>
                  <a:srgbClr val="52514E"/>
                </a:solidFill>
                <a:latin typeface="Segoe UI"/>
              </a:rPr>
              <a:t>Left: every 3-mic triangle against the 4-mic array, angle by angle. Right: what each triangle costs, paired clap by clap.</a:t>
            </a:r>
          </a:p>
        </p:txBody>
      </p:sp>
      <p:sp>
        <p:nvSpPr>
          <p:cNvPr id="7" name="TextBox 6"/>
          <p:cNvSpPr txBox="1"/>
          <p:nvPr/>
        </p:nvSpPr>
        <p:spPr>
          <a:xfrm>
            <a:off x="566928" y="5687567"/>
            <a:ext cx="11064240" cy="323165"/>
          </a:xfrm>
          <a:prstGeom prst="rect">
            <a:avLst/>
          </a:prstGeom>
          <a:noFill/>
        </p:spPr>
        <p:txBody>
          <a:bodyPr wrap="square">
            <a:spAutoFit/>
          </a:bodyPr>
          <a:lstStyle/>
          <a:p>
            <a:pPr algn="l">
              <a:spcAft>
                <a:spcPts val="1000"/>
              </a:spcAft>
            </a:pPr>
            <a:r>
              <a:rPr sz="1500" b="0" dirty="0">
                <a:solidFill>
                  <a:srgbClr val="52514E"/>
                </a:solidFill>
                <a:latin typeface="Segoe UI"/>
              </a:rPr>
              <a:t>4 mics 1.11 deg, best 3-mic triangle 1.76 with a worst single clap of 7.</a:t>
            </a:r>
            <a:r>
              <a:rPr lang="en-US" sz="1500" b="0" dirty="0">
                <a:solidFill>
                  <a:srgbClr val="52514E"/>
                </a:solidFill>
                <a:latin typeface="Segoe UI"/>
              </a:rPr>
              <a:t>70</a:t>
            </a:r>
            <a:endParaRPr sz="1500" b="0" dirty="0">
              <a:solidFill>
                <a:srgbClr val="52514E"/>
              </a:solidFill>
              <a:latin typeface="Segoe U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553998"/>
          </a:xfrm>
          <a:prstGeom prst="rect">
            <a:avLst/>
          </a:prstGeom>
          <a:noFill/>
        </p:spPr>
        <p:txBody>
          <a:bodyPr wrap="square">
            <a:spAutoFit/>
          </a:bodyPr>
          <a:lstStyle/>
          <a:p>
            <a:pPr algn="l">
              <a:spcAft>
                <a:spcPts val="0"/>
              </a:spcAft>
            </a:pPr>
            <a:r>
              <a:rPr sz="3000" b="1" dirty="0">
                <a:solidFill>
                  <a:srgbClr val="0B0B0B"/>
                </a:solidFill>
                <a:latin typeface="Segoe UI"/>
              </a:rPr>
              <a:t>A self-check</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600200"/>
            <a:ext cx="11064240" cy="4480560"/>
          </a:xfrm>
          <a:prstGeom prst="rect">
            <a:avLst/>
          </a:prstGeom>
          <a:noFill/>
        </p:spPr>
        <p:txBody>
          <a:bodyPr wrap="square">
            <a:spAutoFit/>
          </a:bodyPr>
          <a:lstStyle/>
          <a:p>
            <a:pPr algn="l">
              <a:spcAft>
                <a:spcPts val="1400"/>
              </a:spcAft>
            </a:pPr>
            <a:r>
              <a:rPr sz="1900" b="0">
                <a:solidFill>
                  <a:srgbClr val="0B0B0B"/>
                </a:solidFill>
                <a:latin typeface="Segoe UI"/>
              </a:rPr>
              <a:t>•  Delay is antisymmetric: A to B, plus B to C, must equal A to C</a:t>
            </a:r>
          </a:p>
          <a:p>
            <a:pPr algn="l">
              <a:spcAft>
                <a:spcPts val="1400"/>
              </a:spcAft>
            </a:pPr>
            <a:r>
              <a:rPr sz="1900" b="0">
                <a:solidFill>
                  <a:srgbClr val="0B0B0B"/>
                </a:solidFill>
                <a:latin typeface="Segoe UI"/>
              </a:rPr>
              <a:t>•  It does not, when a reflection has corrupted a pair</a:t>
            </a:r>
          </a:p>
          <a:p>
            <a:pPr algn="l">
              <a:spcAft>
                <a:spcPts val="1400"/>
              </a:spcAft>
            </a:pPr>
            <a:r>
              <a:rPr sz="1900" b="0">
                <a:solidFill>
                  <a:srgbClr val="0B0B0B"/>
                </a:solidFill>
                <a:latin typeface="Segoe UI"/>
              </a:rPr>
              <a:t>•  Worst violation across all four triangles flags a bad capture</a:t>
            </a:r>
          </a:p>
          <a:p>
            <a:pPr algn="l">
              <a:spcAft>
                <a:spcPts val="1400"/>
              </a:spcAft>
            </a:pPr>
            <a:r>
              <a:rPr sz="1900" b="0">
                <a:solidFill>
                  <a:srgbClr val="0B0B0B"/>
                </a:solidFill>
                <a:latin typeface="Segoe UI"/>
              </a:rPr>
              <a:t>•  Residual tracked the error: 0.119, 0.347, 0.499 samples</a:t>
            </a:r>
          </a:p>
          <a:p>
            <a:pPr algn="l">
              <a:spcAft>
                <a:spcPts val="800"/>
              </a:spcAft>
            </a:pPr>
            <a:r>
              <a:rPr sz="1700" b="0">
                <a:solidFill>
                  <a:srgbClr val="52514E"/>
                </a:solidFill>
                <a:latin typeface="Segoe UI"/>
              </a:rPr>
              <a:t>against errors of 0.6, 2.1 and 6.4 degrees</a:t>
            </a:r>
          </a:p>
          <a:p>
            <a:pPr algn="l">
              <a:spcAft>
                <a:spcPts val="1400"/>
              </a:spcAft>
            </a:pPr>
            <a:r>
              <a:rPr sz="1900" b="0">
                <a:solidFill>
                  <a:srgbClr val="0B0B0B"/>
                </a:solidFill>
                <a:latin typeface="Segoe UI"/>
              </a:rPr>
              <a:t>•  The firmware flagged both bad captures on its own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Putting it on the microcontroller</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325880"/>
            <a:ext cx="11064240" cy="420624"/>
          </a:xfrm>
          <a:prstGeom prst="rect">
            <a:avLst/>
          </a:prstGeom>
          <a:noFill/>
        </p:spPr>
        <p:txBody>
          <a:bodyPr wrap="square">
            <a:spAutoFit/>
          </a:bodyPr>
          <a:lstStyle/>
          <a:p>
            <a:pPr algn="l">
              <a:spcAft>
                <a:spcPts val="0"/>
              </a:spcAft>
            </a:pPr>
            <a:r>
              <a:rPr sz="1700" b="0">
                <a:solidFill>
                  <a:srgbClr val="0B0B0B"/>
                </a:solidFill>
                <a:latin typeface="Segoe UI"/>
              </a:rPr>
              <a:t>The FFT tables alone did not fit in flash</a:t>
            </a:r>
          </a:p>
        </p:txBody>
      </p:sp>
      <p:pic>
        <p:nvPicPr>
          <p:cNvPr id="5" name="Picture 4" descr="fig_flash.png"/>
          <p:cNvPicPr>
            <a:picLocks noChangeAspect="1"/>
          </p:cNvPicPr>
          <p:nvPr/>
        </p:nvPicPr>
        <p:blipFill>
          <a:blip r:embed="rId3"/>
          <a:stretch>
            <a:fillRect/>
          </a:stretch>
        </p:blipFill>
        <p:spPr>
          <a:xfrm>
            <a:off x="2500742" y="1856231"/>
            <a:ext cx="7190210" cy="3749039"/>
          </a:xfrm>
          <a:prstGeom prst="rect">
            <a:avLst/>
          </a:prstGeom>
        </p:spPr>
      </p:pic>
      <p:sp>
        <p:nvSpPr>
          <p:cNvPr id="6" name="TextBox 5"/>
          <p:cNvSpPr txBox="1"/>
          <p:nvPr/>
        </p:nvSpPr>
        <p:spPr>
          <a:xfrm>
            <a:off x="566928" y="5733286"/>
            <a:ext cx="11064240" cy="553998"/>
          </a:xfrm>
          <a:prstGeom prst="rect">
            <a:avLst/>
          </a:prstGeom>
          <a:noFill/>
        </p:spPr>
        <p:txBody>
          <a:bodyPr wrap="square">
            <a:spAutoFit/>
          </a:bodyPr>
          <a:lstStyle/>
          <a:p>
            <a:pPr algn="l">
              <a:spcAft>
                <a:spcPts val="1000"/>
              </a:spcAft>
            </a:pPr>
            <a:r>
              <a:rPr sz="1500" b="0" dirty="0">
                <a:solidFill>
                  <a:srgbClr val="52514E"/>
                </a:solidFill>
                <a:latin typeface="Segoe UI"/>
              </a:rPr>
              <a:t>Selective table mode names only the three tables a 4096 point real FFT needs. Final image 55.7 KB</a:t>
            </a:r>
            <a:r>
              <a:rPr lang="en-US" sz="1500" b="0" dirty="0">
                <a:solidFill>
                  <a:srgbClr val="52514E"/>
                </a:solidFill>
                <a:latin typeface="Segoe UI"/>
              </a:rPr>
              <a:t> (-02)</a:t>
            </a:r>
            <a:r>
              <a:rPr sz="1500" b="0" dirty="0">
                <a:solidFill>
                  <a:srgbClr val="52514E"/>
                </a:solidFill>
                <a:latin typeface="Segoe UI"/>
              </a:rPr>
              <a:t>, with 48 KB of FFT buffers in a separate RAM section that costs no flash.</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The budget that left</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325880"/>
            <a:ext cx="11064240" cy="420624"/>
          </a:xfrm>
          <a:prstGeom prst="rect">
            <a:avLst/>
          </a:prstGeom>
          <a:noFill/>
        </p:spPr>
        <p:txBody>
          <a:bodyPr wrap="square">
            <a:spAutoFit/>
          </a:bodyPr>
          <a:lstStyle/>
          <a:p>
            <a:pPr algn="l">
              <a:spcAft>
                <a:spcPts val="0"/>
              </a:spcAft>
            </a:pPr>
            <a:r>
              <a:rPr sz="1700" b="0">
                <a:solidFill>
                  <a:srgbClr val="0B0B0B"/>
                </a:solidFill>
                <a:latin typeface="Segoe UI"/>
              </a:rPr>
              <a:t>Where the 512 KB of flash and 256 KB of RAM went</a:t>
            </a:r>
          </a:p>
        </p:txBody>
      </p:sp>
      <p:pic>
        <p:nvPicPr>
          <p:cNvPr id="5" name="Picture 4" descr="fig_memory.png"/>
          <p:cNvPicPr>
            <a:picLocks noChangeAspect="1"/>
          </p:cNvPicPr>
          <p:nvPr/>
        </p:nvPicPr>
        <p:blipFill>
          <a:blip r:embed="rId3"/>
          <a:stretch>
            <a:fillRect/>
          </a:stretch>
        </p:blipFill>
        <p:spPr>
          <a:xfrm>
            <a:off x="2910516" y="1856231"/>
            <a:ext cx="6370662" cy="3246120"/>
          </a:xfrm>
          <a:prstGeom prst="rect">
            <a:avLst/>
          </a:prstGeom>
        </p:spPr>
      </p:pic>
      <p:sp>
        <p:nvSpPr>
          <p:cNvPr id="6" name="TextBox 5"/>
          <p:cNvSpPr txBox="1"/>
          <p:nvPr/>
        </p:nvSpPr>
        <p:spPr>
          <a:xfrm>
            <a:off x="2910516" y="5230367"/>
            <a:ext cx="6370662" cy="411480"/>
          </a:xfrm>
          <a:prstGeom prst="rect">
            <a:avLst/>
          </a:prstGeom>
          <a:noFill/>
        </p:spPr>
        <p:txBody>
          <a:bodyPr wrap="square">
            <a:spAutoFit/>
          </a:bodyPr>
          <a:lstStyle/>
          <a:p>
            <a:pPr algn="l">
              <a:spcAft>
                <a:spcPts val="0"/>
              </a:spcAft>
            </a:pPr>
            <a:r>
              <a:rPr sz="1350" b="0">
                <a:solidFill>
                  <a:srgbClr val="52514E"/>
                </a:solidFill>
                <a:latin typeface="Segoe UI"/>
              </a:rPr>
              <a:t>Bytes as the toolchain reports them. The two capture buffers alone are 96% of .bss.</a:t>
            </a:r>
          </a:p>
        </p:txBody>
      </p:sp>
      <p:sp>
        <p:nvSpPr>
          <p:cNvPr id="7" name="TextBox 6"/>
          <p:cNvSpPr txBox="1"/>
          <p:nvPr/>
        </p:nvSpPr>
        <p:spPr>
          <a:xfrm>
            <a:off x="566928" y="5687567"/>
            <a:ext cx="11064240" cy="323165"/>
          </a:xfrm>
          <a:prstGeom prst="rect">
            <a:avLst/>
          </a:prstGeom>
          <a:noFill/>
        </p:spPr>
        <p:txBody>
          <a:bodyPr wrap="square">
            <a:spAutoFit/>
          </a:bodyPr>
          <a:lstStyle/>
          <a:p>
            <a:pPr algn="l">
              <a:spcAft>
                <a:spcPts val="1000"/>
              </a:spcAft>
            </a:pPr>
            <a:r>
              <a:rPr sz="1500" b="0" dirty="0">
                <a:solidFill>
                  <a:srgbClr val="52514E"/>
                </a:solidFill>
                <a:latin typeface="Segoe UI"/>
              </a:rPr>
              <a:t>RECORD_SECS is 1 because of this figure, not by preference.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Where the 398 ms actually goes</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566928" y="1600200"/>
          <a:ext cx="11064239" cy="1920240"/>
        </p:xfrm>
        <a:graphic>
          <a:graphicData uri="http://schemas.openxmlformats.org/drawingml/2006/table">
            <a:tbl>
              <a:tblPr firstRow="1" bandRow="1">
                <a:tableStyleId>{5C22544A-7EE6-4342-B048-85BDC9FD1C3A}</a:tableStyleId>
              </a:tblPr>
              <a:tblGrid>
                <a:gridCol w="4317752">
                  <a:extLst>
                    <a:ext uri="{9D8B030D-6E8A-4147-A177-3AD203B41FA5}">
                      <a16:colId xmlns:a16="http://schemas.microsoft.com/office/drawing/2014/main" val="20000"/>
                    </a:ext>
                  </a:extLst>
                </a:gridCol>
                <a:gridCol w="2968454">
                  <a:extLst>
                    <a:ext uri="{9D8B030D-6E8A-4147-A177-3AD203B41FA5}">
                      <a16:colId xmlns:a16="http://schemas.microsoft.com/office/drawing/2014/main" val="20001"/>
                    </a:ext>
                  </a:extLst>
                </a:gridCol>
                <a:gridCol w="2158876">
                  <a:extLst>
                    <a:ext uri="{9D8B030D-6E8A-4147-A177-3AD203B41FA5}">
                      <a16:colId xmlns:a16="http://schemas.microsoft.com/office/drawing/2014/main" val="20002"/>
                    </a:ext>
                  </a:extLst>
                </a:gridCol>
                <a:gridCol w="1619157">
                  <a:extLst>
                    <a:ext uri="{9D8B030D-6E8A-4147-A177-3AD203B41FA5}">
                      <a16:colId xmlns:a16="http://schemas.microsoft.com/office/drawing/2014/main" val="20003"/>
                    </a:ext>
                  </a:extLst>
                </a:gridCol>
              </a:tblGrid>
              <a:tr h="384048">
                <a:tc>
                  <a:txBody>
                    <a:bodyPr/>
                    <a:lstStyle/>
                    <a:p>
                      <a:r>
                        <a:rPr sz="1500" b="1">
                          <a:solidFill>
                            <a:srgbClr val="FFFFFF"/>
                          </a:solidFill>
                          <a:latin typeface="Segoe UI"/>
                        </a:rPr>
                        <a:t>Stage</a:t>
                      </a:r>
                    </a:p>
                  </a:txBody>
                  <a:tcPr>
                    <a:solidFill>
                      <a:srgbClr val="0B0B0B"/>
                    </a:solidFill>
                  </a:tcPr>
                </a:tc>
                <a:tc>
                  <a:txBody>
                    <a:bodyPr/>
                    <a:lstStyle/>
                    <a:p>
                      <a:r>
                        <a:rPr sz="1500" b="1">
                          <a:solidFill>
                            <a:srgbClr val="FFFFFF"/>
                          </a:solidFill>
                          <a:latin typeface="Segoe UI"/>
                        </a:rPr>
                        <a:t>Cycles</a:t>
                      </a:r>
                    </a:p>
                  </a:txBody>
                  <a:tcPr>
                    <a:solidFill>
                      <a:srgbClr val="0B0B0B"/>
                    </a:solidFill>
                  </a:tcPr>
                </a:tc>
                <a:tc>
                  <a:txBody>
                    <a:bodyPr/>
                    <a:lstStyle/>
                    <a:p>
                      <a:r>
                        <a:rPr sz="1500" b="1">
                          <a:solidFill>
                            <a:srgbClr val="FFFFFF"/>
                          </a:solidFill>
                          <a:latin typeface="Segoe UI"/>
                        </a:rPr>
                        <a:t>Time</a:t>
                      </a:r>
                    </a:p>
                  </a:txBody>
                  <a:tcPr>
                    <a:solidFill>
                      <a:srgbClr val="0B0B0B"/>
                    </a:solidFill>
                  </a:tcPr>
                </a:tc>
                <a:tc>
                  <a:txBody>
                    <a:bodyPr/>
                    <a:lstStyle/>
                    <a:p>
                      <a:r>
                        <a:rPr sz="1500" b="1">
                          <a:solidFill>
                            <a:srgbClr val="FFFFFF"/>
                          </a:solidFill>
                          <a:latin typeface="Segoe UI"/>
                        </a:rPr>
                        <a:t>Share</a:t>
                      </a:r>
                    </a:p>
                  </a:txBody>
                  <a:tcPr>
                    <a:solidFill>
                      <a:srgbClr val="0B0B0B"/>
                    </a:solidFill>
                  </a:tcPr>
                </a:tc>
                <a:extLst>
                  <a:ext uri="{0D108BD9-81ED-4DB2-BD59-A6C34878D82A}">
                    <a16:rowId xmlns:a16="http://schemas.microsoft.com/office/drawing/2014/main" val="10000"/>
                  </a:ext>
                </a:extLst>
              </a:tr>
              <a:tr h="384048">
                <a:tc>
                  <a:txBody>
                    <a:bodyPr/>
                    <a:lstStyle/>
                    <a:p>
                      <a:r>
                        <a:rPr sz="1400" b="0">
                          <a:solidFill>
                            <a:srgbClr val="0B0B0B"/>
                          </a:solidFill>
                          <a:latin typeface="Segoe UI"/>
                        </a:rPr>
                        <a:t>find_clap</a:t>
                      </a:r>
                    </a:p>
                  </a:txBody>
                  <a:tcPr>
                    <a:solidFill>
                      <a:srgbClr val="F2F1EC"/>
                    </a:solidFill>
                  </a:tcPr>
                </a:tc>
                <a:tc>
                  <a:txBody>
                    <a:bodyPr/>
                    <a:lstStyle/>
                    <a:p>
                      <a:r>
                        <a:rPr sz="1400" b="0">
                          <a:solidFill>
                            <a:srgbClr val="0B0B0B"/>
                          </a:solidFill>
                          <a:latin typeface="Segoe UI"/>
                        </a:rPr>
                        <a:t>8,677,046</a:t>
                      </a:r>
                    </a:p>
                  </a:txBody>
                  <a:tcPr>
                    <a:solidFill>
                      <a:srgbClr val="F2F1EC"/>
                    </a:solidFill>
                  </a:tcPr>
                </a:tc>
                <a:tc>
                  <a:txBody>
                    <a:bodyPr/>
                    <a:lstStyle/>
                    <a:p>
                      <a:r>
                        <a:rPr sz="1400" b="0">
                          <a:solidFill>
                            <a:srgbClr val="0B0B0B"/>
                          </a:solidFill>
                          <a:latin typeface="Segoe UI"/>
                        </a:rPr>
                        <a:t>90.4 ms</a:t>
                      </a:r>
                    </a:p>
                  </a:txBody>
                  <a:tcPr>
                    <a:solidFill>
                      <a:srgbClr val="F2F1EC"/>
                    </a:solidFill>
                  </a:tcPr>
                </a:tc>
                <a:tc>
                  <a:txBody>
                    <a:bodyPr/>
                    <a:lstStyle/>
                    <a:p>
                      <a:r>
                        <a:rPr sz="1400" b="0">
                          <a:solidFill>
                            <a:srgbClr val="0B0B0B"/>
                          </a:solidFill>
                          <a:latin typeface="Segoe UI"/>
                        </a:rPr>
                        <a:t>22%</a:t>
                      </a:r>
                    </a:p>
                  </a:txBody>
                  <a:tcPr>
                    <a:solidFill>
                      <a:srgbClr val="F2F1EC"/>
                    </a:solidFill>
                  </a:tcPr>
                </a:tc>
                <a:extLst>
                  <a:ext uri="{0D108BD9-81ED-4DB2-BD59-A6C34878D82A}">
                    <a16:rowId xmlns:a16="http://schemas.microsoft.com/office/drawing/2014/main" val="10001"/>
                  </a:ext>
                </a:extLst>
              </a:tr>
              <a:tr h="384048">
                <a:tc>
                  <a:txBody>
                    <a:bodyPr/>
                    <a:lstStyle/>
                    <a:p>
                      <a:r>
                        <a:rPr sz="1400" b="0">
                          <a:solidFill>
                            <a:srgbClr val="0B0B0B"/>
                          </a:solidFill>
                          <a:latin typeface="Segoe UI"/>
                        </a:rPr>
                        <a:t>GCC-PHAT, all six pairs</a:t>
                      </a:r>
                    </a:p>
                  </a:txBody>
                  <a:tcPr>
                    <a:solidFill>
                      <a:srgbClr val="FCFCFB"/>
                    </a:solidFill>
                  </a:tcPr>
                </a:tc>
                <a:tc>
                  <a:txBody>
                    <a:bodyPr/>
                    <a:lstStyle/>
                    <a:p>
                      <a:r>
                        <a:rPr sz="1400" b="0">
                          <a:solidFill>
                            <a:srgbClr val="0B0B0B"/>
                          </a:solidFill>
                          <a:latin typeface="Segoe UI"/>
                        </a:rPr>
                        <a:t>29,526,954</a:t>
                      </a:r>
                    </a:p>
                  </a:txBody>
                  <a:tcPr>
                    <a:solidFill>
                      <a:srgbClr val="FCFCFB"/>
                    </a:solidFill>
                  </a:tcPr>
                </a:tc>
                <a:tc>
                  <a:txBody>
                    <a:bodyPr/>
                    <a:lstStyle/>
                    <a:p>
                      <a:r>
                        <a:rPr sz="1400" b="0">
                          <a:solidFill>
                            <a:srgbClr val="0B0B0B"/>
                          </a:solidFill>
                          <a:latin typeface="Segoe UI"/>
                        </a:rPr>
                        <a:t>307.6 ms</a:t>
                      </a:r>
                    </a:p>
                  </a:txBody>
                  <a:tcPr>
                    <a:solidFill>
                      <a:srgbClr val="FCFCFB"/>
                    </a:solidFill>
                  </a:tcPr>
                </a:tc>
                <a:tc>
                  <a:txBody>
                    <a:bodyPr/>
                    <a:lstStyle/>
                    <a:p>
                      <a:r>
                        <a:rPr sz="1400" b="0">
                          <a:solidFill>
                            <a:srgbClr val="0B0B0B"/>
                          </a:solidFill>
                          <a:latin typeface="Segoe UI"/>
                        </a:rPr>
                        <a:t>77%</a:t>
                      </a:r>
                    </a:p>
                  </a:txBody>
                  <a:tcPr>
                    <a:solidFill>
                      <a:srgbClr val="FCFCFB"/>
                    </a:solidFill>
                  </a:tcPr>
                </a:tc>
                <a:extLst>
                  <a:ext uri="{0D108BD9-81ED-4DB2-BD59-A6C34878D82A}">
                    <a16:rowId xmlns:a16="http://schemas.microsoft.com/office/drawing/2014/main" val="10002"/>
                  </a:ext>
                </a:extLst>
              </a:tr>
              <a:tr h="384048">
                <a:tc>
                  <a:txBody>
                    <a:bodyPr/>
                    <a:lstStyle/>
                    <a:p>
                      <a:r>
                        <a:rPr sz="1400" b="0">
                          <a:solidFill>
                            <a:srgbClr val="0B0B0B"/>
                          </a:solidFill>
                          <a:latin typeface="Segoe UI"/>
                        </a:rPr>
                        <a:t>Fit and triangle residual</a:t>
                      </a:r>
                    </a:p>
                  </a:txBody>
                  <a:tcPr>
                    <a:solidFill>
                      <a:srgbClr val="F2F1EC"/>
                    </a:solidFill>
                  </a:tcPr>
                </a:tc>
                <a:tc>
                  <a:txBody>
                    <a:bodyPr/>
                    <a:lstStyle/>
                    <a:p>
                      <a:r>
                        <a:rPr sz="1400" b="0">
                          <a:solidFill>
                            <a:srgbClr val="0B0B0B"/>
                          </a:solidFill>
                          <a:latin typeface="Segoe UI"/>
                        </a:rPr>
                        <a:t>2,312</a:t>
                      </a:r>
                    </a:p>
                  </a:txBody>
                  <a:tcPr>
                    <a:solidFill>
                      <a:srgbClr val="F2F1EC"/>
                    </a:solidFill>
                  </a:tcPr>
                </a:tc>
                <a:tc>
                  <a:txBody>
                    <a:bodyPr/>
                    <a:lstStyle/>
                    <a:p>
                      <a:r>
                        <a:rPr sz="1400" b="0">
                          <a:solidFill>
                            <a:srgbClr val="0B0B0B"/>
                          </a:solidFill>
                          <a:latin typeface="Segoe UI"/>
                        </a:rPr>
                        <a:t>0.024 ms</a:t>
                      </a:r>
                    </a:p>
                  </a:txBody>
                  <a:tcPr>
                    <a:solidFill>
                      <a:srgbClr val="F2F1EC"/>
                    </a:solidFill>
                  </a:tcPr>
                </a:tc>
                <a:tc>
                  <a:txBody>
                    <a:bodyPr/>
                    <a:lstStyle/>
                    <a:p>
                      <a:r>
                        <a:rPr sz="1400" b="0">
                          <a:solidFill>
                            <a:srgbClr val="0B0B0B"/>
                          </a:solidFill>
                          <a:latin typeface="Segoe UI"/>
                        </a:rPr>
                        <a:t>0%</a:t>
                      </a:r>
                    </a:p>
                  </a:txBody>
                  <a:tcPr>
                    <a:solidFill>
                      <a:srgbClr val="F2F1EC"/>
                    </a:solidFill>
                  </a:tcPr>
                </a:tc>
                <a:extLst>
                  <a:ext uri="{0D108BD9-81ED-4DB2-BD59-A6C34878D82A}">
                    <a16:rowId xmlns:a16="http://schemas.microsoft.com/office/drawing/2014/main" val="10003"/>
                  </a:ext>
                </a:extLst>
              </a:tr>
              <a:tr h="384048">
                <a:tc>
                  <a:txBody>
                    <a:bodyPr/>
                    <a:lstStyle/>
                    <a:p>
                      <a:r>
                        <a:rPr sz="1400" b="0">
                          <a:solidFill>
                            <a:srgbClr val="0B0B0B"/>
                          </a:solidFill>
                          <a:latin typeface="Segoe UI"/>
                        </a:rPr>
                        <a:t>Total</a:t>
                      </a:r>
                    </a:p>
                  </a:txBody>
                  <a:tcPr>
                    <a:solidFill>
                      <a:srgbClr val="FCFCFB"/>
                    </a:solidFill>
                  </a:tcPr>
                </a:tc>
                <a:tc>
                  <a:txBody>
                    <a:bodyPr/>
                    <a:lstStyle/>
                    <a:p>
                      <a:r>
                        <a:rPr sz="1400" b="0">
                          <a:solidFill>
                            <a:srgbClr val="0B0B0B"/>
                          </a:solidFill>
                          <a:latin typeface="Segoe UI"/>
                        </a:rPr>
                        <a:t>38,206,623</a:t>
                      </a:r>
                    </a:p>
                  </a:txBody>
                  <a:tcPr>
                    <a:solidFill>
                      <a:srgbClr val="FCFCFB"/>
                    </a:solidFill>
                  </a:tcPr>
                </a:tc>
                <a:tc>
                  <a:txBody>
                    <a:bodyPr/>
                    <a:lstStyle/>
                    <a:p>
                      <a:r>
                        <a:rPr sz="1400" b="0">
                          <a:solidFill>
                            <a:srgbClr val="0B0B0B"/>
                          </a:solidFill>
                          <a:latin typeface="Segoe UI"/>
                        </a:rPr>
                        <a:t>398.0 ms</a:t>
                      </a:r>
                    </a:p>
                  </a:txBody>
                  <a:tcPr>
                    <a:solidFill>
                      <a:srgbClr val="FCFCFB"/>
                    </a:solidFill>
                  </a:tcPr>
                </a:tc>
                <a:tc>
                  <a:txBody>
                    <a:bodyPr/>
                    <a:lstStyle/>
                    <a:p>
                      <a:r>
                        <a:rPr sz="1400" b="0">
                          <a:solidFill>
                            <a:srgbClr val="0B0B0B"/>
                          </a:solidFill>
                          <a:latin typeface="Segoe UI"/>
                        </a:rPr>
                        <a:t>100%</a:t>
                      </a:r>
                    </a:p>
                  </a:txBody>
                  <a:tcPr>
                    <a:solidFill>
                      <a:srgbClr val="FCFCFB"/>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What is not done</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645920"/>
            <a:ext cx="11064240" cy="3760004"/>
          </a:xfrm>
          <a:prstGeom prst="rect">
            <a:avLst/>
          </a:prstGeom>
          <a:noFill/>
        </p:spPr>
        <p:txBody>
          <a:bodyPr wrap="square">
            <a:spAutoFit/>
          </a:bodyPr>
          <a:lstStyle/>
          <a:p>
            <a:pPr algn="l">
              <a:spcAft>
                <a:spcPts val="200"/>
              </a:spcAft>
            </a:pPr>
            <a:r>
              <a:rPr sz="2000" b="1" dirty="0">
                <a:solidFill>
                  <a:srgbClr val="0B0B0B"/>
                </a:solidFill>
                <a:latin typeface="Segoe UI"/>
              </a:rPr>
              <a:t>•  Accuracy is bounded not by the array</a:t>
            </a:r>
          </a:p>
          <a:p>
            <a:pPr algn="l">
              <a:spcAft>
                <a:spcPts val="1500"/>
              </a:spcAft>
            </a:pPr>
            <a:r>
              <a:rPr sz="1600" b="0" dirty="0">
                <a:solidFill>
                  <a:srgbClr val="52514E"/>
                </a:solidFill>
                <a:latin typeface="Segoe UI"/>
              </a:rPr>
              <a:t>the angles come from hand-placed floor marks</a:t>
            </a:r>
          </a:p>
          <a:p>
            <a:pPr algn="l">
              <a:spcAft>
                <a:spcPts val="200"/>
              </a:spcAft>
            </a:pPr>
            <a:r>
              <a:rPr sz="2000" b="1" dirty="0">
                <a:solidFill>
                  <a:srgbClr val="0B0B0B"/>
                </a:solidFill>
                <a:latin typeface="Segoe UI"/>
              </a:rPr>
              <a:t>•  One room, one sitting, one distance</a:t>
            </a:r>
          </a:p>
          <a:p>
            <a:pPr algn="l">
              <a:spcAft>
                <a:spcPts val="1500"/>
              </a:spcAft>
            </a:pPr>
            <a:r>
              <a:rPr sz="1600" b="0" dirty="0">
                <a:solidFill>
                  <a:srgbClr val="52514E"/>
                </a:solidFill>
                <a:latin typeface="Segoe UI"/>
              </a:rPr>
              <a:t>nothing tests whether 1.11 deg survives a different environment</a:t>
            </a:r>
          </a:p>
          <a:p>
            <a:pPr algn="l">
              <a:spcAft>
                <a:spcPts val="200"/>
              </a:spcAft>
            </a:pPr>
            <a:r>
              <a:rPr sz="2000" b="1" dirty="0">
                <a:solidFill>
                  <a:srgbClr val="0B0B0B"/>
                </a:solidFill>
                <a:latin typeface="Segoe UI"/>
              </a:rPr>
              <a:t>•  Nothing is wireless, and there is one node</a:t>
            </a:r>
          </a:p>
          <a:p>
            <a:pPr algn="l">
              <a:spcAft>
                <a:spcPts val="1500"/>
              </a:spcAft>
            </a:pPr>
            <a:r>
              <a:rPr sz="1600" b="0" dirty="0">
                <a:solidFill>
                  <a:srgbClr val="52514E"/>
                </a:solidFill>
                <a:latin typeface="Segoe UI"/>
              </a:rPr>
              <a:t>multi-node needs inter-node time sync, a hard problem itself</a:t>
            </a:r>
          </a:p>
          <a:p>
            <a:pPr algn="l">
              <a:spcAft>
                <a:spcPts val="200"/>
              </a:spcAft>
            </a:pPr>
            <a:r>
              <a:rPr sz="2000" b="1" dirty="0">
                <a:solidFill>
                  <a:srgbClr val="0B0B0B"/>
                </a:solidFill>
                <a:latin typeface="Segoe UI"/>
              </a:rPr>
              <a:t>•  Claps only, one second at a time</a:t>
            </a:r>
          </a:p>
          <a:p>
            <a:pPr algn="l">
              <a:spcAft>
                <a:spcPts val="1500"/>
              </a:spcAft>
            </a:pPr>
            <a:r>
              <a:rPr sz="1600" b="0" dirty="0">
                <a:solidFill>
                  <a:srgbClr val="52514E"/>
                </a:solidFill>
                <a:latin typeface="Segoe UI"/>
              </a:rPr>
              <a:t>no continuous operation, no speech, no battery</a:t>
            </a:r>
          </a:p>
          <a:p>
            <a:pPr algn="l">
              <a:spcAft>
                <a:spcPts val="200"/>
              </a:spcAft>
            </a:pPr>
            <a:r>
              <a:rPr sz="2000" b="1" dirty="0">
                <a:solidFill>
                  <a:srgbClr val="0B0B0B"/>
                </a:solidFill>
                <a:latin typeface="Segoe UI"/>
              </a:rPr>
              <a:t>•  Elevation is unreachable with a planar array</a:t>
            </a:r>
          </a:p>
          <a:p>
            <a:pPr algn="l">
              <a:spcAft>
                <a:spcPts val="1500"/>
              </a:spcAft>
            </a:pPr>
            <a:r>
              <a:rPr sz="1600" b="0" dirty="0">
                <a:solidFill>
                  <a:srgbClr val="52514E"/>
                </a:solidFill>
                <a:latin typeface="Segoe UI"/>
              </a:rPr>
              <a:t>a source above the plane cannot be told from its mirror below</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2834640"/>
            <a:ext cx="10515600" cy="1280160"/>
          </a:xfrm>
          <a:prstGeom prst="rect">
            <a:avLst/>
          </a:prstGeom>
          <a:noFill/>
        </p:spPr>
        <p:txBody>
          <a:bodyPr wrap="square">
            <a:spAutoFit/>
          </a:bodyPr>
          <a:lstStyle/>
          <a:p>
            <a:pPr algn="l">
              <a:spcAft>
                <a:spcPts val="800"/>
              </a:spcAft>
            </a:pPr>
            <a:r>
              <a:rPr sz="4000" b="1">
                <a:solidFill>
                  <a:srgbClr val="A8A7A1"/>
                </a:solidFill>
                <a:latin typeface="Segoe UI"/>
              </a:rPr>
              <a:t>Backup</a:t>
            </a:r>
          </a:p>
          <a:p>
            <a:pPr algn="l">
              <a:spcAft>
                <a:spcPts val="0"/>
              </a:spcAft>
            </a:pPr>
            <a:r>
              <a:rPr sz="2200" b="0">
                <a:solidFill>
                  <a:srgbClr val="A8A7A1"/>
                </a:solidFill>
                <a:latin typeface="Segoe UI"/>
              </a:rPr>
              <a:t>for questions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lang="en-US" sz="3000" b="1" dirty="0">
                <a:solidFill>
                  <a:srgbClr val="0B0B0B"/>
                </a:solidFill>
                <a:latin typeface="Segoe UI"/>
              </a:rPr>
              <a:t>Backup: </a:t>
            </a:r>
            <a:r>
              <a:rPr sz="3000" b="1" dirty="0">
                <a:solidFill>
                  <a:srgbClr val="0B0B0B"/>
                </a:solidFill>
                <a:latin typeface="Segoe UI"/>
              </a:rPr>
              <a:t>why GCC-PHAT and not plain cross correlation</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600200"/>
            <a:ext cx="11064240" cy="4480560"/>
          </a:xfrm>
          <a:prstGeom prst="rect">
            <a:avLst/>
          </a:prstGeom>
          <a:noFill/>
        </p:spPr>
        <p:txBody>
          <a:bodyPr wrap="square">
            <a:spAutoFit/>
          </a:bodyPr>
          <a:lstStyle/>
          <a:p>
            <a:pPr algn="l">
              <a:spcAft>
                <a:spcPts val="1400"/>
              </a:spcAft>
            </a:pPr>
            <a:r>
              <a:rPr sz="1900" b="0">
                <a:solidFill>
                  <a:srgbClr val="0B0B0B"/>
                </a:solidFill>
                <a:latin typeface="Segoe UI"/>
              </a:rPr>
              <a:t>•  Plain cross correlation is dominated by whatever frequencies are loudest</a:t>
            </a:r>
          </a:p>
          <a:p>
            <a:pPr algn="l">
              <a:spcAft>
                <a:spcPts val="1400"/>
              </a:spcAft>
            </a:pPr>
            <a:r>
              <a:rPr sz="1900" b="0">
                <a:solidFill>
                  <a:srgbClr val="0B0B0B"/>
                </a:solidFill>
                <a:latin typeface="Segoe UI"/>
              </a:rPr>
              <a:t>•  A clap is broadband but very uneven, and a room colours it further</a:t>
            </a:r>
          </a:p>
          <a:p>
            <a:pPr algn="l">
              <a:spcAft>
                <a:spcPts val="1400"/>
              </a:spcAft>
            </a:pPr>
            <a:r>
              <a:rPr sz="1900" b="0">
                <a:solidFill>
                  <a:srgbClr val="0B0B0B"/>
                </a:solidFill>
                <a:latin typeface="Segoe UI"/>
              </a:rPr>
              <a:t>•  PHAT divides out the magnitude and keeps only phase</a:t>
            </a:r>
          </a:p>
          <a:p>
            <a:pPr algn="l">
              <a:spcAft>
                <a:spcPts val="1400"/>
              </a:spcAft>
            </a:pPr>
            <a:r>
              <a:rPr sz="1900" b="0">
                <a:solidFill>
                  <a:srgbClr val="0B0B0B"/>
                </a:solidFill>
                <a:latin typeface="Segoe UI"/>
              </a:rPr>
              <a:t>•  That gives a sharp correlation peak instead of a broad one</a:t>
            </a:r>
          </a:p>
          <a:p>
            <a:pPr algn="l">
              <a:spcAft>
                <a:spcPts val="1400"/>
              </a:spcAft>
            </a:pPr>
            <a:r>
              <a:rPr sz="1900" b="0">
                <a:solidFill>
                  <a:srgbClr val="0B0B0B"/>
                </a:solidFill>
                <a:latin typeface="Segoe UI"/>
              </a:rPr>
              <a:t>•  Peak is then interpolated for sub-sample resolution</a:t>
            </a:r>
          </a:p>
          <a:p>
            <a:pPr algn="l">
              <a:spcAft>
                <a:spcPts val="800"/>
              </a:spcAft>
            </a:pPr>
            <a:r>
              <a:rPr sz="1700" b="0">
                <a:solidFill>
                  <a:srgbClr val="52514E"/>
                </a:solidFill>
                <a:latin typeface="Segoe UI"/>
              </a:rPr>
              <a:t>Cost: PHAT is noisier at low SNR, since it trusts quiet frequencies as much as loud ones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553998"/>
          </a:xfrm>
          <a:prstGeom prst="rect">
            <a:avLst/>
          </a:prstGeom>
          <a:noFill/>
        </p:spPr>
        <p:txBody>
          <a:bodyPr wrap="square">
            <a:spAutoFit/>
          </a:bodyPr>
          <a:lstStyle/>
          <a:p>
            <a:pPr algn="l">
              <a:spcAft>
                <a:spcPts val="0"/>
              </a:spcAft>
            </a:pPr>
            <a:r>
              <a:rPr sz="3000" b="1" dirty="0">
                <a:solidFill>
                  <a:srgbClr val="0B0B0B"/>
                </a:solidFill>
                <a:latin typeface="Segoe UI"/>
              </a:rPr>
              <a:t>Backup: the signal chain</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600200"/>
            <a:ext cx="11064240" cy="2272417"/>
          </a:xfrm>
          <a:prstGeom prst="rect">
            <a:avLst/>
          </a:prstGeom>
          <a:noFill/>
        </p:spPr>
        <p:txBody>
          <a:bodyPr wrap="square">
            <a:spAutoFit/>
          </a:bodyPr>
          <a:lstStyle/>
          <a:p>
            <a:pPr algn="l">
              <a:spcAft>
                <a:spcPts val="1400"/>
              </a:spcAft>
            </a:pPr>
            <a:r>
              <a:rPr sz="1900" b="0" dirty="0">
                <a:solidFill>
                  <a:srgbClr val="0B0B0B"/>
                </a:solidFill>
                <a:latin typeface="Segoe UI"/>
              </a:rPr>
              <a:t>•  PDM mic at 2.4 MHz, one bit per clock</a:t>
            </a:r>
          </a:p>
          <a:p>
            <a:pPr algn="l">
              <a:spcAft>
                <a:spcPts val="1400"/>
              </a:spcAft>
            </a:pPr>
            <a:r>
              <a:rPr sz="1900" b="0" dirty="0">
                <a:solidFill>
                  <a:srgbClr val="0B0B0B"/>
                </a:solidFill>
                <a:latin typeface="Segoe UI"/>
              </a:rPr>
              <a:t>•  DFSDM sinc3 filter, oversampling ratio 150, gives 16 kHz</a:t>
            </a:r>
          </a:p>
          <a:p>
            <a:pPr algn="l">
              <a:spcAft>
                <a:spcPts val="1400"/>
              </a:spcAft>
            </a:pPr>
            <a:r>
              <a:rPr sz="1900" b="0" dirty="0">
                <a:solidFill>
                  <a:srgbClr val="0B0B0B"/>
                </a:solidFill>
                <a:latin typeface="Segoe UI"/>
              </a:rPr>
              <a:t>•  Each 32-bit filter result is shifted right by 8 to make int16 PCM</a:t>
            </a:r>
          </a:p>
          <a:p>
            <a:pPr algn="l">
              <a:spcAft>
                <a:spcPts val="1400"/>
              </a:spcAft>
            </a:pPr>
            <a:r>
              <a:rPr sz="1900" b="0" dirty="0">
                <a:solidFill>
                  <a:srgbClr val="0B0B0B"/>
                </a:solidFill>
                <a:latin typeface="Segoe UI"/>
              </a:rPr>
              <a:t>•  DMA in circular ping-pong halves, so capture never stops to copy</a:t>
            </a:r>
          </a:p>
          <a:p>
            <a:pPr algn="l">
              <a:spcAft>
                <a:spcPts val="1400"/>
              </a:spcAft>
            </a:pPr>
            <a:r>
              <a:rPr sz="1900" b="0" dirty="0">
                <a:solidFill>
                  <a:srgbClr val="0B0B0B"/>
                </a:solidFill>
                <a:latin typeface="Segoe UI"/>
              </a:rPr>
              <a:t>•  All four channels drained as ONE aligned frame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553998"/>
          </a:xfrm>
          <a:prstGeom prst="rect">
            <a:avLst/>
          </a:prstGeom>
          <a:noFill/>
        </p:spPr>
        <p:txBody>
          <a:bodyPr wrap="square">
            <a:spAutoFit/>
          </a:bodyPr>
          <a:lstStyle/>
          <a:p>
            <a:pPr algn="l">
              <a:spcAft>
                <a:spcPts val="0"/>
              </a:spcAft>
            </a:pPr>
            <a:r>
              <a:rPr sz="3000" b="1" dirty="0">
                <a:solidFill>
                  <a:srgbClr val="0B0B0B"/>
                </a:solidFill>
                <a:latin typeface="Segoe UI"/>
              </a:rPr>
              <a:t>Backup: why the array is planar</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600200"/>
            <a:ext cx="11064240" cy="1800493"/>
          </a:xfrm>
          <a:prstGeom prst="rect">
            <a:avLst/>
          </a:prstGeom>
          <a:noFill/>
        </p:spPr>
        <p:txBody>
          <a:bodyPr wrap="square">
            <a:spAutoFit/>
          </a:bodyPr>
          <a:lstStyle/>
          <a:p>
            <a:pPr algn="l">
              <a:spcAft>
                <a:spcPts val="1400"/>
              </a:spcAft>
            </a:pPr>
            <a:r>
              <a:rPr sz="1900" b="0" dirty="0">
                <a:solidFill>
                  <a:srgbClr val="0B0B0B"/>
                </a:solidFill>
                <a:latin typeface="Segoe UI"/>
              </a:rPr>
              <a:t>•  Four mics in a plane give BEARING only, not elevation</a:t>
            </a:r>
          </a:p>
          <a:p>
            <a:pPr algn="l">
              <a:spcAft>
                <a:spcPts val="1400"/>
              </a:spcAft>
            </a:pPr>
            <a:r>
              <a:rPr sz="1900" b="0" dirty="0">
                <a:solidFill>
                  <a:srgbClr val="0B0B0B"/>
                </a:solidFill>
                <a:latin typeface="Segoe UI"/>
              </a:rPr>
              <a:t>•  A source above the plane is indistinguishable from its mirror below</a:t>
            </a:r>
          </a:p>
          <a:p>
            <a:pPr algn="l">
              <a:spcAft>
                <a:spcPts val="1400"/>
              </a:spcAft>
            </a:pPr>
            <a:r>
              <a:rPr sz="1900" b="0" dirty="0">
                <a:solidFill>
                  <a:srgbClr val="0B0B0B"/>
                </a:solidFill>
                <a:latin typeface="Segoe UI"/>
              </a:rPr>
              <a:t>•  Elevation would need a non-planar layout, for example a tetrahedron</a:t>
            </a:r>
          </a:p>
          <a:p>
            <a:pPr algn="l">
              <a:spcAft>
                <a:spcPts val="1400"/>
              </a:spcAft>
            </a:pPr>
            <a:r>
              <a:rPr sz="1900" b="0" dirty="0">
                <a:solidFill>
                  <a:srgbClr val="0B0B0B"/>
                </a:solidFill>
                <a:latin typeface="Segoe UI"/>
              </a:rPr>
              <a:t>•  For a node on a ceiling or a wall, bearing in the plane may be enough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3520</TotalTime>
  <Words>2058</Words>
  <Application>Microsoft Office PowerPoint</Application>
  <PresentationFormat>Widescreen</PresentationFormat>
  <Paragraphs>212</Paragraphs>
  <Slides>25</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Junior Leke Taleambong</dc:creator>
  <cp:keywords/>
  <dc:description>generated using python-pptx</dc:description>
  <cp:lastModifiedBy>Junior Leke Taleambong</cp:lastModifiedBy>
  <cp:revision>3</cp:revision>
  <dcterms:created xsi:type="dcterms:W3CDTF">2013-01-27T09:14:16Z</dcterms:created>
  <dcterms:modified xsi:type="dcterms:W3CDTF">2026-08-03T05:27:56Z</dcterms:modified>
  <cp:category/>
</cp:coreProperties>
</file>