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in one sentence: this is a progress report on a project that works end to end but is not finished, and you will be clear about which parts are proven and which are not.</a:t>
            </a:r>
          </a:p>
          <a:p/>
          <a:p>
            <a:r>
              <a:t>If you have the array with you, hold it up here. It is small, and people are surprised by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eventual system briefly so the audience knows where this is heading, then narrow immediately to what was actually built. Say the network part is not started now, so it is not a surprise later.</a:t>
            </a:r>
          </a:p>
          <a:p/>
          <a:p>
            <a:r>
              <a:t>Reference design is SpeechCompass (CHI 2025), same microcontroller family and the same microphones.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physical core of the talk and worth spending time on. The punchline is sub-sample accuracy: whole-sample resolution is not enough, which is why the method is GCC-PHAT with an interpolated peak rather than simple peak finding.</a:t>
            </a:r>
          </a:p>
          <a:p/>
          <a:p>
            <a:r>
              <a:t>PHAT means the correlation is weighted by phase, which makes it robust to the very uneven frequency content of a clap. If someone asks why not plain cross correlation, that is the answer, and there is a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chain left to right once: mics, DFSDM, DMA, RAM, clap trigger, then it splits into the on-board localizer and the raw dump to a PC.</a:t>
            </a:r>
          </a:p>
          <a:p/>
          <a:p>
            <a:r>
              <a:t>Emphasise that both paths exist deliberately. The board computes its own answer AND the raw audio comes out, so the same samples can be re-run against the reference implementation on a PC. Without that there would be no way to tell a firmware bug from a room problem.</a:t>
            </a:r>
          </a:p>
          <a:p/>
          <a:p>
            <a:r>
              <a:t>Consider drawing the block diagram on the whiteboard as you say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'clever bit' slide. The original plan assumed eight DFSDM channels; this part has four. Rather than change parts, the SEL pin fits four microphones into the pins available.</a:t>
            </a:r>
          </a:p>
          <a:p/>
          <a:p>
            <a:r>
              <a:t>Mic drives the line while the clock is high if SEL is grounded, and while it is low if SEL is at 3V3, so the two never collide. Channel pin redirection inside DFSDM is what lets both halves of each pair be reached.</a:t>
            </a:r>
          </a:p>
          <a:p/>
          <a:p>
            <a:r>
              <a:t>Finding the four-channel limit early rather than late is the reason the design fits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point of failure of the whole approach. Everything downstream measures time differences, so a constant per-channel offset poisons every result and still looks perfectly plausible.</a:t>
            </a:r>
          </a:p>
          <a:p/>
          <a:p>
            <a:r>
              <a:t>Make the point that the system cannot detect this from a normal recording. That is exactly why the next slide exists: a test designed so that only a sync fault could produce a certain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of the test is the point worth making, more than the numbers. A spread out array would have confounded a sync fault with real geometry. Packing the mics tight made the two separable, because at 2 cm spacing physics cannot produce a large delay.</a:t>
            </a:r>
          </a:p>
          <a:p/>
          <a:p>
            <a:r>
              <a:t>The four measured delays were 0.000, -0.481, -1.354 and -1.801 samples, monotonic across the line and straight to within 0.131 samples.</a:t>
            </a:r>
          </a:p>
          <a:p/>
          <a:p>
            <a:r>
              <a:t>That fixture could never localize anything, its aperture is under 3 samples, so it was retired immediately after it did its one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layout changed twice in a day: first only one breadboard was available, which forced a thin rectangle, then two were glued together and a near-square fit again. Nothing about the mathematics changed. That is why geometry was moved out of the analysis scripts into a registry with one active layout.</a:t>
            </a:r>
          </a:p>
          <a:p/>
          <a:p>
            <a:r>
              <a:t>Measure port to port, not pin to pin: on a breakout board the mic port is offset from the header pins, and 1 mm is about 0.047 samples.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 to point at is the 2.8 x 10 cm single-board rectangle. Its MEAN is a respectable 1.87 degrees, but its p90 is 7.87 degrees, because the error is not spread evenly: it piles up in four narrow cones about 30 degrees off the long axis. Averaged over all directions that looks fine. If your source sits in one of those cones it is not fine.</a:t>
            </a:r>
          </a:p>
          <a:p/>
          <a:p>
            <a:r>
              <a:t>Condition number predicts that directly, which is why the code warns based on it rather than on a hardcoded list of bad angles. Near 1 means uniform accuracy; above about 2 means blind directions exist.</a:t>
            </a:r>
          </a:p>
          <a:p/>
          <a:p>
            <a:r>
              <a:t>The extreme case: a straight line of mics is rank 1, the across-axis component is unconstrained, and the estimator returns 0 or 180 degrees regardless of truth. The script hard-fails rather than print a plausible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methodology slide and probably the most important one for a research audience.</a:t>
            </a:r>
          </a:p>
          <a:p/>
          <a:p>
            <a:r>
              <a:t>The temptation in a localization project is to judge a result by whether the angle looks about right. That does not work, because plenty of bugs produce plausible angles. A wrong channel map, a sign error, a filter offset: all of them give you a number in degrees that could be true.</a:t>
            </a:r>
          </a:p>
          <a:p/>
          <a:p>
            <a:r>
              <a:t>Point 3 is a small thing with a big payoff: the bring-up script imports GCC-PHAT from the reference rather than reimplementing it, so the test and the thing being tested cannot quietly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story in the project, so tell it as a story.</a:t>
            </a:r>
          </a:p>
          <a:p/>
          <a:p>
            <a:r>
              <a:t>The first ground-truthed capture was 3.4 degrees off and one mic pair was inconsistent with the other five. The array was 65 cm from a wall. The reflection was arriving soon enough to land inside the 2048 sample analysis window, so the estimator was fitting a mixture of the direct sound and its echo.</a:t>
            </a:r>
          </a:p>
          <a:p/>
          <a:p>
            <a:r>
              <a:t>Moving the array to 2.1 m of clearance took the error to +0.58 degrees, which is at the simulation's own accuracy floor. Nothing in the code changed.</a:t>
            </a:r>
          </a:p>
          <a:p/>
          <a:p>
            <a:r>
              <a:t>This is why the capture folders record the room setup alongside the data: distance to the nearest wall is a property of the measurement, not of the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property is that this needs no knowledge of the true angle, which makes it usable in the field and not only in a validation run. In a deployed node there is no protractor.</a:t>
            </a:r>
          </a:p>
          <a:p/>
          <a:p>
            <a:r>
              <a:t>The firmware prints 'inconsistent: suspect a reflection' when the residual passes 0.3 samples, and it did so unprompted on both of the 315 degree trials before anyone had worked out why they were worse.</a:t>
            </a:r>
          </a:p>
          <a:p/>
          <a:p>
            <a:r>
              <a:t>It is a consistency check, not a correctness check: a capture can be self-consistent and still wrong. But an inconsistent one is definitely suspect.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slide for showing that embedded work is largely about budgets.</a:t>
            </a:r>
          </a:p>
          <a:p/>
          <a:p>
            <a:r>
              <a:t>CMSIS-DSP was vendored in by hand rather than added through the config tool, because the only available pack carrying it also switches on a USB device stack, a USB core and an AI application, all competing for the RAM the capture buffers need.</a:t>
            </a:r>
          </a:p>
          <a:p/>
          <a:p>
            <a:r>
              <a:t>Then the size problem: compiled whole, the tables file is 707 KB, larger than the entire 512 KB flash. It holds twiddle and bit-reversal tables for every FFT length and data type, and the generic initializer references all of them, so the linker cannot drop any. Naming only the three tables actually needed took it to 40 KB.</a:t>
            </a:r>
          </a:p>
          <a:p/>
          <a:p>
            <a:r>
              <a:t>Timing estimate is about 10 ms of FFT work per 32 ms frame at 96 MHz, so roughly 3x headroom.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announced themselves. Not one produced an error message. That is the honest engineering slide, and it is worth saying that this is what most of the debugging time went to.</a:t>
            </a:r>
          </a:p>
          <a:p/>
          <a:p>
            <a:r>
              <a:t>The blank float one is a nice puzzle to pose to the audience: every integer printed correctly and every float printed nothing. That exact pattern is the fingerprint of the small printf implementation linked with nano.specs, which omits float support unless you ask for it. Fixed by formatting floats with integer arithmetic instead, so it cannot come back from a build setting.</a:t>
            </a:r>
          </a:p>
          <a:p/>
          <a:p>
            <a:r>
              <a:t>What worked as defence: commit before and after every regeneration so a diff exposes it, treat every compiler warning as guilty, and build self-checks that flag a bad result without needing to know the right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and do not apologise through it. Being precise about what is unproven is what makes the proven parts credible.</a:t>
            </a:r>
          </a:p>
          <a:p/>
          <a:p>
            <a:r>
              <a:t>The first item is the important one. The integer stages of the embedded port match the reference exactly, onset and analysis window were identical on all three captures, so find_clap is validated. But the arithmetic downstream of it has never produced a visible number on hardware. So describe the port as partly validated, never as working.</a:t>
            </a:r>
          </a:p>
          <a:p/>
          <a:p>
            <a:r>
              <a:t>If asked when it will be done: the fix is committed, it needs a flash and one capture, and the comparison script is already written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block everything else, and step 2 is already written and tested against synthetic data, so it is ready the moment the firmware is flashed.</a:t>
            </a:r>
          </a:p>
          <a:p/>
          <a:p>
            <a:r>
              <a:t>Close by naming the decision you actually want input on: which of the three directions in step 4 is most useful to the group. Multi-node is the most interesting but it needs time synchronization between nodes, which is a substantial problem in its own right and worth being explicit about rather than assuming.</a:t>
            </a:r>
          </a:p>
          <a:p/>
          <a:p>
            <a:r>
              <a:t>Then stop and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after this point is for questions, not for the main flow.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The honest trade is in the last line: PHAT whitens everything, so at poor SNR it is weighting noise-dominated bins as heavily as clean ones. For a loud clap in a quiet room that is a good trade, which is the case this project targets.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point is the subtle one. The code acts only when all four channels have flagged the same buffer half, then treats all four identically. If channels were handled independently, a clap arriving at the wrong moment could start one channel a frame ahead of another, and the estimator would read that bookkeeping error as acoustic delay.</a:t>
            </a:r>
          </a:p>
          <a:p/>
          <a:p>
            <a:r>
              <a:t>It is also why the warm-up discard is one global counter rather than four per-channel counters.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raising with the group rather than defaulting into it. If the eventual deployment wants elevation, the array shape has to change, and every geometry number and the mounting change with it. Cheap to decide now, expensive to retrofit.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room setup is grouped by session because it is a property of the data, not of the run. The wall distance determined whether a whole session was trustworthy, so it lives with the captures.</a:t>
            </a:r>
          </a:p>
          <a:p/>
          <a:p>
            <a:r>
              <a:t>Saving the board's report next to the samples was a late addition and it mattered: without it the report scrolled past in the terminal and was gone, because only one process can hold the serial port so you cannot watch it in a terminal at the same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920240"/>
            <a:ext cx="10515600" cy="2377440"/>
          </a:xfrm>
          <a:prstGeom prst="rect">
            <a:avLst/>
          </a:prstGeom>
          <a:noFill/>
        </p:spPr>
        <p:txBody>
          <a:bodyPr wrap="square">
            <a:spAutoFit/>
          </a:bodyPr>
          <a:lstStyle/>
          <a:p>
            <a:pPr algn="l">
              <a:spcAft>
                <a:spcPts val="400"/>
              </a:spcAft>
            </a:pPr>
            <a:r>
              <a:rPr sz="4400" b="1">
                <a:solidFill>
                  <a:srgbClr val="0B0B0B"/>
                </a:solidFill>
                <a:latin typeface="Segoe UI"/>
              </a:rPr>
              <a:t>Acoustic Source Localization</a:t>
            </a:r>
          </a:p>
          <a:p>
            <a:pPr algn="l">
              <a:spcAft>
                <a:spcPts val="2600"/>
              </a:spcAft>
            </a:pPr>
            <a:r>
              <a:rPr sz="4400" b="1">
                <a:solidFill>
                  <a:srgbClr val="2A78D6"/>
                </a:solidFill>
                <a:latin typeface="Segoe UI"/>
              </a:rPr>
              <a:t>on a Wireless Sensor Node</a:t>
            </a:r>
          </a:p>
          <a:p>
            <a:pPr algn="l">
              <a:spcAft>
                <a:spcPts val="600"/>
              </a:spcAft>
            </a:pPr>
            <a:r>
              <a:rPr sz="2000" b="0">
                <a:solidFill>
                  <a:srgbClr val="52514E"/>
                </a:solidFill>
                <a:latin typeface="Segoe UI"/>
              </a:rPr>
              <a:t>Leke,  undergraduate EE,  University of Virginia</a:t>
            </a:r>
          </a:p>
          <a:p>
            <a:pPr algn="l">
              <a:spcAft>
                <a:spcPts val="600"/>
              </a:spcAft>
            </a:pPr>
            <a:r>
              <a:rPr sz="2000" b="0">
                <a:solidFill>
                  <a:srgbClr val="52514E"/>
                </a:solidFill>
                <a:latin typeface="Segoe UI"/>
              </a:rPr>
              <a:t>Supervisor: Ben</a:t>
            </a:r>
          </a:p>
          <a:p>
            <a:pPr algn="l">
              <a:spcAft>
                <a:spcPts val="0"/>
              </a:spcAft>
            </a:pPr>
            <a:r>
              <a:rPr sz="1800" b="1">
                <a:solidFill>
                  <a:srgbClr val="2A78D6"/>
                </a:solidFill>
                <a:latin typeface="Segoe UI"/>
              </a:rPr>
              <a:t>Summer 2026   |   work in progress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The goal</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A small node that hears a sound and reports the direction it came from</a:t>
            </a:r>
          </a:p>
          <a:p>
            <a:pPr algn="l">
              <a:spcAft>
                <a:spcPts val="1400"/>
              </a:spcAft>
            </a:pPr>
            <a:r>
              <a:rPr sz="1900" b="0">
                <a:solidFill>
                  <a:srgbClr val="0B0B0B"/>
                </a:solidFill>
                <a:latin typeface="Segoe UI"/>
              </a:rPr>
              <a:t>•  Several nodes cross their bearings to locate a source</a:t>
            </a:r>
          </a:p>
          <a:p>
            <a:pPr algn="l">
              <a:spcAft>
                <a:spcPts val="1400"/>
              </a:spcAft>
            </a:pPr>
            <a:r>
              <a:rPr sz="1900" b="0">
                <a:solidFill>
                  <a:srgbClr val="0B0B0B"/>
                </a:solidFill>
                <a:latin typeface="Segoe UI"/>
              </a:rPr>
              <a:t>•  This summer: ONE node, microphone to bearing in degrees</a:t>
            </a:r>
          </a:p>
          <a:p>
            <a:pPr algn="l">
              <a:spcAft>
                <a:spcPts val="1400"/>
              </a:spcAft>
            </a:pPr>
            <a:r>
              <a:rPr sz="1900" b="0">
                <a:solidFill>
                  <a:srgbClr val="0B0B0B"/>
                </a:solidFill>
                <a:latin typeface="Segoe UI"/>
              </a:rPr>
              <a:t>•  The network part is not started. That is honest, not a spoiler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How direction comes out of timing</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tdoa.png"/>
          <p:cNvPicPr>
            <a:picLocks noChangeAspect="1"/>
          </p:cNvPicPr>
          <p:nvPr/>
        </p:nvPicPr>
        <p:blipFill>
          <a:blip r:embed="rId2"/>
          <a:stretch>
            <a:fillRect/>
          </a:stretch>
        </p:blipFill>
        <p:spPr>
          <a:xfrm>
            <a:off x="566928" y="1554480"/>
            <a:ext cx="5741356" cy="4114800"/>
          </a:xfrm>
          <a:prstGeom prst="rect">
            <a:avLst/>
          </a:prstGeom>
        </p:spPr>
      </p:pic>
      <p:sp>
        <p:nvSpPr>
          <p:cNvPr id="5" name="TextBox 4"/>
          <p:cNvSpPr txBox="1"/>
          <p:nvPr/>
        </p:nvSpPr>
        <p:spPr>
          <a:xfrm>
            <a:off x="6628324" y="1554480"/>
            <a:ext cx="5106171" cy="4389120"/>
          </a:xfrm>
          <a:prstGeom prst="rect">
            <a:avLst/>
          </a:prstGeom>
          <a:noFill/>
        </p:spPr>
        <p:txBody>
          <a:bodyPr wrap="square">
            <a:spAutoFit/>
          </a:bodyPr>
          <a:lstStyle/>
          <a:p>
            <a:pPr algn="l">
              <a:spcAft>
                <a:spcPts val="1300"/>
              </a:spcAft>
            </a:pPr>
            <a:r>
              <a:rPr sz="1550" b="0">
                <a:solidFill>
                  <a:srgbClr val="0B0B0B"/>
                </a:solidFill>
                <a:latin typeface="Segoe UI"/>
              </a:rPr>
              <a:t>•  Sound reaches the four mics at slightly different times</a:t>
            </a:r>
          </a:p>
          <a:p>
            <a:pPr algn="l">
              <a:spcAft>
                <a:spcPts val="1300"/>
              </a:spcAft>
            </a:pPr>
            <a:r>
              <a:rPr sz="1550" b="0">
                <a:solidFill>
                  <a:srgbClr val="0B0B0B"/>
                </a:solidFill>
                <a:latin typeface="Segoe UI"/>
              </a:rPr>
              <a:t>•  Those differences depend on direction</a:t>
            </a:r>
          </a:p>
          <a:p>
            <a:pPr algn="l">
              <a:spcAft>
                <a:spcPts val="1300"/>
              </a:spcAft>
            </a:pPr>
            <a:r>
              <a:rPr sz="1550" b="0">
                <a:solidFill>
                  <a:srgbClr val="0B0B0B"/>
                </a:solidFill>
                <a:latin typeface="Segoe UI"/>
              </a:rPr>
              <a:t>•  At 16 kHz one sample is 2.1 cm of travel</a:t>
            </a:r>
          </a:p>
          <a:p>
            <a:pPr algn="l">
              <a:spcAft>
                <a:spcPts val="1300"/>
              </a:spcAft>
            </a:pPr>
            <a:r>
              <a:rPr sz="1550" b="0">
                <a:solidFill>
                  <a:srgbClr val="0B0B0B"/>
                </a:solidFill>
                <a:latin typeface="Segoe UI"/>
              </a:rPr>
              <a:t>•  So delays need sub-sample accuracy</a:t>
            </a:r>
          </a:p>
          <a:p>
            <a:pPr algn="l">
              <a:spcAft>
                <a:spcPts val="1300"/>
              </a:spcAft>
            </a:pPr>
            <a:r>
              <a:rPr sz="1550" b="0">
                <a:solidFill>
                  <a:srgbClr val="0B0B0B"/>
                </a:solidFill>
                <a:latin typeface="Segoe UI"/>
              </a:rPr>
              <a:t>•  GCC-PHAT plus peak interpolation gets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System overview</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Four PDM MEMS mics, 16 kHz per channel</a:t>
            </a:r>
          </a:p>
          <a:p>
            <a:pPr algn="l">
              <a:spcAft>
                <a:spcPts val="1400"/>
              </a:spcAft>
            </a:pPr>
            <a:r>
              <a:rPr sz="1900" b="0">
                <a:solidFill>
                  <a:srgbClr val="0B0B0B"/>
                </a:solidFill>
                <a:latin typeface="Segoe UI"/>
              </a:rPr>
              <a:t>•  STM32L552 at 96 MHz: DFSDM decimation, DMA into RAM</a:t>
            </a:r>
          </a:p>
          <a:p>
            <a:pPr algn="l">
              <a:spcAft>
                <a:spcPts val="1400"/>
              </a:spcAft>
            </a:pPr>
            <a:r>
              <a:rPr sz="1900" b="0">
                <a:solidFill>
                  <a:srgbClr val="0B0B0B"/>
                </a:solidFill>
                <a:latin typeface="Segoe UI"/>
              </a:rPr>
              <a:t>•  Clap trigger, one second stored</a:t>
            </a:r>
          </a:p>
          <a:p>
            <a:pPr algn="l">
              <a:spcAft>
                <a:spcPts val="1400"/>
              </a:spcAft>
            </a:pPr>
            <a:r>
              <a:rPr sz="1900" b="0">
                <a:solidFill>
                  <a:srgbClr val="0B0B0B"/>
                </a:solidFill>
                <a:latin typeface="Segoe UI"/>
              </a:rPr>
              <a:t>•  Bearing computed ON the board with CMSIS-DSP</a:t>
            </a:r>
          </a:p>
          <a:p>
            <a:pPr algn="l">
              <a:spcAft>
                <a:spcPts val="1400"/>
              </a:spcAft>
            </a:pPr>
            <a:r>
              <a:rPr sz="1900" b="0">
                <a:solidFill>
                  <a:srgbClr val="0B0B0B"/>
                </a:solidFill>
                <a:latin typeface="Segoe UI"/>
              </a:rPr>
              <a:t>•  Raw audio also dumped over serial, on purpose</a:t>
            </a:r>
          </a:p>
          <a:p>
            <a:pPr algn="l">
              <a:spcAft>
                <a:spcPts val="800"/>
              </a:spcAft>
            </a:pPr>
            <a:r>
              <a:rPr sz="1700" b="0">
                <a:solidFill>
                  <a:srgbClr val="52514E"/>
                </a:solidFill>
                <a:latin typeface="Segoe UI"/>
              </a:rPr>
              <a:t>Two outputs from one capture is what makes validation possible: the board's answer and the samples that produced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Four microphones on two data pins</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The chip has four DFSDM channels, not eight</a:t>
            </a:r>
          </a:p>
          <a:p>
            <a:pPr algn="l">
              <a:spcAft>
                <a:spcPts val="1400"/>
              </a:spcAft>
            </a:pPr>
            <a:r>
              <a:rPr sz="1900" b="0">
                <a:solidFill>
                  <a:srgbClr val="0B0B0B"/>
                </a:solidFill>
                <a:latin typeface="Segoe UI"/>
              </a:rPr>
              <a:t>•  Each mic's SEL pin picks the rising or the falling clock edge</a:t>
            </a:r>
          </a:p>
          <a:p>
            <a:pPr algn="l">
              <a:spcAft>
                <a:spcPts val="1400"/>
              </a:spcAft>
            </a:pPr>
            <a:r>
              <a:rPr sz="1900" b="0">
                <a:solidFill>
                  <a:srgbClr val="0B0B0B"/>
                </a:solidFill>
                <a:latin typeface="Segoe UI"/>
              </a:rPr>
              <a:t>•  Two mics with opposite SEL share one wire without colliding</a:t>
            </a:r>
          </a:p>
          <a:p>
            <a:pPr algn="l">
              <a:spcAft>
                <a:spcPts val="1400"/>
              </a:spcAft>
            </a:pPr>
            <a:r>
              <a:rPr sz="1900" b="0">
                <a:solidFill>
                  <a:srgbClr val="0B0B0B"/>
                </a:solidFill>
                <a:latin typeface="Segoe UI"/>
              </a:rPr>
              <a:t>•  Mics 0 and 1 on PE7, mics 2 and 3 on PB1, one clock net to all four</a:t>
            </a:r>
          </a:p>
          <a:p>
            <a:pPr algn="l">
              <a:spcAft>
                <a:spcPts val="800"/>
              </a:spcAft>
            </a:pPr>
            <a:r>
              <a:rPr sz="1700" b="0">
                <a:solidFill>
                  <a:srgbClr val="52514E"/>
                </a:solidFill>
                <a:latin typeface="Segoe UI"/>
              </a:rPr>
              <a:t>This is the manufacturer's intended use of SEL, not a hack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The problem that had to be solved first</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The four digital filters must start on the same clock edge</a:t>
            </a:r>
          </a:p>
          <a:p>
            <a:pPr algn="l">
              <a:spcAft>
                <a:spcPts val="1400"/>
              </a:spcAft>
            </a:pPr>
            <a:r>
              <a:rPr sz="1900" b="0">
                <a:solidFill>
                  <a:srgbClr val="0B0B0B"/>
                </a:solidFill>
                <a:latin typeface="Segoe UI"/>
              </a:rPr>
              <a:t>•  If they do not, every channel carries an unknown offset</a:t>
            </a:r>
          </a:p>
          <a:p>
            <a:pPr algn="l">
              <a:spcAft>
                <a:spcPts val="1400"/>
              </a:spcAft>
            </a:pPr>
            <a:r>
              <a:rPr sz="1900" b="0">
                <a:solidFill>
                  <a:srgbClr val="0B0B0B"/>
                </a:solidFill>
                <a:latin typeface="Segoe UI"/>
              </a:rPr>
              <a:t>•  An unknown offset is indistinguishable from real acoustic delay</a:t>
            </a:r>
          </a:p>
          <a:p>
            <a:pPr algn="l">
              <a:spcAft>
                <a:spcPts val="1400"/>
              </a:spcAft>
            </a:pPr>
            <a:r>
              <a:rPr sz="1900" b="0">
                <a:solidFill>
                  <a:srgbClr val="0B0B0B"/>
                </a:solidFill>
                <a:latin typeface="Segoe UI"/>
              </a:rPr>
              <a:t>•  Fix: synchronized start, followers armed first, trigger filter last</a:t>
            </a:r>
          </a:p>
          <a:p>
            <a:pPr algn="l">
              <a:spcAft>
                <a:spcPts val="800"/>
              </a:spcAft>
            </a:pPr>
            <a:r>
              <a:rPr sz="1700" b="0">
                <a:solidFill>
                  <a:srgbClr val="52514E"/>
                </a:solidFill>
                <a:latin typeface="Segoe UI"/>
              </a:rPr>
              <a:t>The data cannot reveal this on its own, so it was tested directly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Proving synchronization before trusting anything</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sync.png"/>
          <p:cNvPicPr>
            <a:picLocks noChangeAspect="1"/>
          </p:cNvPicPr>
          <p:nvPr/>
        </p:nvPicPr>
        <p:blipFill>
          <a:blip r:embed="rId2"/>
          <a:stretch>
            <a:fillRect/>
          </a:stretch>
        </p:blipFill>
        <p:spPr>
          <a:xfrm>
            <a:off x="566928" y="1554480"/>
            <a:ext cx="6252489" cy="4114800"/>
          </a:xfrm>
          <a:prstGeom prst="rect">
            <a:avLst/>
          </a:prstGeom>
        </p:spPr>
      </p:pic>
      <p:sp>
        <p:nvSpPr>
          <p:cNvPr id="5" name="TextBox 4"/>
          <p:cNvSpPr txBox="1"/>
          <p:nvPr/>
        </p:nvSpPr>
        <p:spPr>
          <a:xfrm>
            <a:off x="7139457" y="1554480"/>
            <a:ext cx="4595038" cy="4389120"/>
          </a:xfrm>
          <a:prstGeom prst="rect">
            <a:avLst/>
          </a:prstGeom>
          <a:noFill/>
        </p:spPr>
        <p:txBody>
          <a:bodyPr wrap="square">
            <a:spAutoFit/>
          </a:bodyPr>
          <a:lstStyle/>
          <a:p>
            <a:pPr algn="l">
              <a:spcAft>
                <a:spcPts val="1300"/>
              </a:spcAft>
            </a:pPr>
            <a:r>
              <a:rPr sz="1550" b="0">
                <a:solidFill>
                  <a:srgbClr val="0B0B0B"/>
                </a:solidFill>
                <a:latin typeface="Segoe UI"/>
              </a:rPr>
              <a:t>•  Mics packed in a tight line, about 2 cm apart</a:t>
            </a:r>
          </a:p>
          <a:p>
            <a:pPr algn="l">
              <a:spcAft>
                <a:spcPts val="1300"/>
              </a:spcAft>
            </a:pPr>
            <a:r>
              <a:rPr sz="1550" b="0">
                <a:solidFill>
                  <a:srgbClr val="0B0B0B"/>
                </a:solidFill>
                <a:latin typeface="Segoe UI"/>
              </a:rPr>
              <a:t>•  True delay across the whole array is then under 3 samples</a:t>
            </a:r>
          </a:p>
          <a:p>
            <a:pPr algn="l">
              <a:spcAft>
                <a:spcPts val="1300"/>
              </a:spcAft>
            </a:pPr>
            <a:r>
              <a:rPr sz="1550" b="0">
                <a:solidFill>
                  <a:srgbClr val="0B0B0B"/>
                </a:solidFill>
                <a:latin typeface="Segoe UI"/>
              </a:rPr>
              <a:t>•  So a large offset could ONLY be a sync fault</a:t>
            </a:r>
          </a:p>
          <a:p>
            <a:pPr algn="l">
              <a:spcAft>
                <a:spcPts val="1300"/>
              </a:spcAft>
            </a:pPr>
            <a:r>
              <a:rPr sz="1550" b="0">
                <a:solidFill>
                  <a:srgbClr val="0B0B0B"/>
                </a:solidFill>
                <a:latin typeface="Segoe UI"/>
              </a:rPr>
              <a:t>•  Measured: linear in mic position to 0.131 samples</a:t>
            </a:r>
          </a:p>
          <a:p>
            <a:pPr algn="l">
              <a:spcAft>
                <a:spcPts val="1300"/>
              </a:spcAft>
            </a:pPr>
            <a:r>
              <a:rPr sz="1550" b="0">
                <a:solidFill>
                  <a:srgbClr val="0B0B0B"/>
                </a:solidFill>
                <a:latin typeface="Segoe UI"/>
              </a:rPr>
              <a:t>•  Fixture retired the day it passed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Array geometry, and why it is not hardcoded</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array.png"/>
          <p:cNvPicPr>
            <a:picLocks noChangeAspect="1"/>
          </p:cNvPicPr>
          <p:nvPr/>
        </p:nvPicPr>
        <p:blipFill>
          <a:blip r:embed="rId2"/>
          <a:stretch>
            <a:fillRect/>
          </a:stretch>
        </p:blipFill>
        <p:spPr>
          <a:xfrm>
            <a:off x="566928" y="1554480"/>
            <a:ext cx="6298552" cy="4114800"/>
          </a:xfrm>
          <a:prstGeom prst="rect">
            <a:avLst/>
          </a:prstGeom>
        </p:spPr>
      </p:pic>
      <p:sp>
        <p:nvSpPr>
          <p:cNvPr id="5" name="TextBox 4"/>
          <p:cNvSpPr txBox="1"/>
          <p:nvPr/>
        </p:nvSpPr>
        <p:spPr>
          <a:xfrm>
            <a:off x="7185520" y="1554480"/>
            <a:ext cx="4548975" cy="4389120"/>
          </a:xfrm>
          <a:prstGeom prst="rect">
            <a:avLst/>
          </a:prstGeom>
          <a:noFill/>
        </p:spPr>
        <p:txBody>
          <a:bodyPr wrap="square">
            <a:spAutoFit/>
          </a:bodyPr>
          <a:lstStyle/>
          <a:p>
            <a:pPr algn="l">
              <a:spcAft>
                <a:spcPts val="1300"/>
              </a:spcAft>
            </a:pPr>
            <a:r>
              <a:rPr sz="1550" b="0">
                <a:solidFill>
                  <a:srgbClr val="0B0B0B"/>
                </a:solidFill>
                <a:latin typeface="Segoe UI"/>
              </a:rPr>
              <a:t>•  Built array 9.25 x 9.9 cm, calipered port to port</a:t>
            </a:r>
          </a:p>
          <a:p>
            <a:pPr algn="l">
              <a:spcAft>
                <a:spcPts val="1300"/>
              </a:spcAft>
            </a:pPr>
            <a:r>
              <a:rPr sz="1550" b="0">
                <a:solidFill>
                  <a:srgbClr val="0B0B0B"/>
                </a:solidFill>
                <a:latin typeface="Segoe UI"/>
              </a:rPr>
              <a:t>•  Layout changed twice mid-build, for physical reasons only</a:t>
            </a:r>
          </a:p>
          <a:p>
            <a:pPr algn="l">
              <a:spcAft>
                <a:spcPts val="1300"/>
              </a:spcAft>
            </a:pPr>
            <a:r>
              <a:rPr sz="1550" b="0">
                <a:solidFill>
                  <a:srgbClr val="0B0B0B"/>
                </a:solidFill>
                <a:latin typeface="Segoe UI"/>
              </a:rPr>
              <a:t>•  So geometry lives in ONE registry file</a:t>
            </a:r>
          </a:p>
          <a:p>
            <a:pPr algn="l">
              <a:spcAft>
                <a:spcPts val="1300"/>
              </a:spcAft>
            </a:pPr>
            <a:r>
              <a:rPr sz="1550" b="0">
                <a:solidFill>
                  <a:srgbClr val="0B0B0B"/>
                </a:solidFill>
                <a:latin typeface="Segoe UI"/>
              </a:rPr>
              <a:t>•  Condition number 1.07, so no blind directions</a:t>
            </a:r>
          </a:p>
          <a:p>
            <a:pPr algn="l">
              <a:spcAft>
                <a:spcPts val="1300"/>
              </a:spcAft>
            </a:pPr>
            <a:r>
              <a:rPr sz="1550" b="0">
                <a:solidFill>
                  <a:srgbClr val="0B0B0B"/>
                </a:solidFill>
                <a:latin typeface="Segoe UI"/>
              </a:rPr>
              <a:t>•  Trying another layout is a one line change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Mean error alone is misleading</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600200"/>
          <a:ext cx="11064238" cy="2688336"/>
        </p:xfrm>
        <a:graphic>
          <a:graphicData uri="http://schemas.openxmlformats.org/drawingml/2006/table">
            <a:tbl>
              <a:tblPr firstRow="1" bandRow="1">
                <a:tableStyleId>{5C22544A-7EE6-4342-B048-85BDC9FD1C3A}</a:tableStyleId>
              </a:tblPr>
              <a:tblGrid>
                <a:gridCol w="3688080"/>
                <a:gridCol w="1410148"/>
                <a:gridCol w="2060985"/>
                <a:gridCol w="1301675"/>
                <a:gridCol w="1301675"/>
                <a:gridCol w="1301675"/>
              </a:tblGrid>
              <a:tr h="384048">
                <a:tc>
                  <a:txBody>
                    <a:bodyPr/>
                    <a:lstStyle/>
                    <a:p>
                      <a:r>
                        <a:rPr sz="1500" b="1">
                          <a:solidFill>
                            <a:srgbClr val="FFFFFF"/>
                          </a:solidFill>
                          <a:latin typeface="Segoe UI"/>
                        </a:rPr>
                        <a:t>Layout</a:t>
                      </a:r>
                    </a:p>
                  </a:txBody>
                  <a:tcPr>
                    <a:solidFill>
                      <a:srgbClr val="0B0B0B"/>
                    </a:solidFill>
                  </a:tcPr>
                </a:tc>
                <a:tc>
                  <a:txBody>
                    <a:bodyPr/>
                    <a:lstStyle/>
                    <a:p>
                      <a:r>
                        <a:rPr sz="1500" b="1">
                          <a:solidFill>
                            <a:srgbClr val="FFFFFF"/>
                          </a:solidFill>
                          <a:latin typeface="Segoe UI"/>
                        </a:rPr>
                        <a:t>Aperture</a:t>
                      </a:r>
                    </a:p>
                  </a:txBody>
                  <a:tcPr>
                    <a:solidFill>
                      <a:srgbClr val="0B0B0B"/>
                    </a:solidFill>
                  </a:tcPr>
                </a:tc>
                <a:tc>
                  <a:txBody>
                    <a:bodyPr/>
                    <a:lstStyle/>
                    <a:p>
                      <a:r>
                        <a:rPr sz="1500" b="1">
                          <a:solidFill>
                            <a:srgbClr val="FFFFFF"/>
                          </a:solidFill>
                          <a:latin typeface="Segoe UI"/>
                        </a:rPr>
                        <a:t>Condition number</a:t>
                      </a:r>
                    </a:p>
                  </a:txBody>
                  <a:tcPr>
                    <a:solidFill>
                      <a:srgbClr val="0B0B0B"/>
                    </a:solidFill>
                  </a:tcPr>
                </a:tc>
                <a:tc>
                  <a:txBody>
                    <a:bodyPr/>
                    <a:lstStyle/>
                    <a:p>
                      <a:r>
                        <a:rPr sz="1500" b="1">
                          <a:solidFill>
                            <a:srgbClr val="FFFFFF"/>
                          </a:solidFill>
                          <a:latin typeface="Segoe UI"/>
                        </a:rPr>
                        <a:t>Mean</a:t>
                      </a:r>
                    </a:p>
                  </a:txBody>
                  <a:tcPr>
                    <a:solidFill>
                      <a:srgbClr val="0B0B0B"/>
                    </a:solidFill>
                  </a:tcPr>
                </a:tc>
                <a:tc>
                  <a:txBody>
                    <a:bodyPr/>
                    <a:lstStyle/>
                    <a:p>
                      <a:r>
                        <a:rPr sz="1500" b="1">
                          <a:solidFill>
                            <a:srgbClr val="FFFFFF"/>
                          </a:solidFill>
                          <a:latin typeface="Segoe UI"/>
                        </a:rPr>
                        <a:t>p90</a:t>
                      </a:r>
                    </a:p>
                  </a:txBody>
                  <a:tcPr>
                    <a:solidFill>
                      <a:srgbClr val="0B0B0B"/>
                    </a:solidFill>
                  </a:tcPr>
                </a:tc>
                <a:tc>
                  <a:txBody>
                    <a:bodyPr/>
                    <a:lstStyle/>
                    <a:p>
                      <a:r>
                        <a:rPr sz="1500" b="1">
                          <a:solidFill>
                            <a:srgbClr val="FFFFFF"/>
                          </a:solidFill>
                          <a:latin typeface="Segoe UI"/>
                        </a:rPr>
                        <a:t>Worst</a:t>
                      </a:r>
                    </a:p>
                  </a:txBody>
                  <a:tcPr>
                    <a:solidFill>
                      <a:srgbClr val="0B0B0B"/>
                    </a:solidFill>
                  </a:tcPr>
                </a:tc>
              </a:tr>
              <a:tr h="384048">
                <a:tc>
                  <a:txBody>
                    <a:bodyPr/>
                    <a:lstStyle/>
                    <a:p>
                      <a:r>
                        <a:rPr sz="1400" b="1">
                          <a:solidFill>
                            <a:srgbClr val="2A78D6"/>
                          </a:solidFill>
                          <a:latin typeface="Segoe UI"/>
                        </a:rPr>
                        <a:t>9.25 x 9.9 cm  (BUILT)</a:t>
                      </a:r>
                    </a:p>
                  </a:txBody>
                  <a:tcPr>
                    <a:solidFill>
                      <a:srgbClr val="F2F1EC"/>
                    </a:solidFill>
                  </a:tcPr>
                </a:tc>
                <a:tc>
                  <a:txBody>
                    <a:bodyPr/>
                    <a:lstStyle/>
                    <a:p>
                      <a:r>
                        <a:rPr sz="1400" b="1">
                          <a:solidFill>
                            <a:srgbClr val="2A78D6"/>
                          </a:solidFill>
                          <a:latin typeface="Segoe UI"/>
                        </a:rPr>
                        <a:t>13.5 cm</a:t>
                      </a:r>
                    </a:p>
                  </a:txBody>
                  <a:tcPr>
                    <a:solidFill>
                      <a:srgbClr val="F2F1EC"/>
                    </a:solidFill>
                  </a:tcPr>
                </a:tc>
                <a:tc>
                  <a:txBody>
                    <a:bodyPr/>
                    <a:lstStyle/>
                    <a:p>
                      <a:r>
                        <a:rPr sz="1400" b="1">
                          <a:solidFill>
                            <a:srgbClr val="2A78D6"/>
                          </a:solidFill>
                          <a:latin typeface="Segoe UI"/>
                        </a:rPr>
                        <a:t>1.07</a:t>
                      </a:r>
                    </a:p>
                  </a:txBody>
                  <a:tcPr>
                    <a:solidFill>
                      <a:srgbClr val="F2F1EC"/>
                    </a:solidFill>
                  </a:tcPr>
                </a:tc>
                <a:tc>
                  <a:txBody>
                    <a:bodyPr/>
                    <a:lstStyle/>
                    <a:p>
                      <a:r>
                        <a:rPr sz="1400" b="1">
                          <a:solidFill>
                            <a:srgbClr val="2A78D6"/>
                          </a:solidFill>
                          <a:latin typeface="Segoe UI"/>
                        </a:rPr>
                        <a:t>1.03 deg</a:t>
                      </a:r>
                    </a:p>
                  </a:txBody>
                  <a:tcPr>
                    <a:solidFill>
                      <a:srgbClr val="F2F1EC"/>
                    </a:solidFill>
                  </a:tcPr>
                </a:tc>
                <a:tc>
                  <a:txBody>
                    <a:bodyPr/>
                    <a:lstStyle/>
                    <a:p>
                      <a:r>
                        <a:rPr sz="1400" b="1">
                          <a:solidFill>
                            <a:srgbClr val="2A78D6"/>
                          </a:solidFill>
                          <a:latin typeface="Segoe UI"/>
                        </a:rPr>
                        <a:t>2.09 deg</a:t>
                      </a:r>
                    </a:p>
                  </a:txBody>
                  <a:tcPr>
                    <a:solidFill>
                      <a:srgbClr val="F2F1EC"/>
                    </a:solidFill>
                  </a:tcPr>
                </a:tc>
                <a:tc>
                  <a:txBody>
                    <a:bodyPr/>
                    <a:lstStyle/>
                    <a:p>
                      <a:r>
                        <a:rPr sz="1400" b="1">
                          <a:solidFill>
                            <a:srgbClr val="2A78D6"/>
                          </a:solidFill>
                          <a:latin typeface="Segoe UI"/>
                        </a:rPr>
                        <a:t>2.39 deg</a:t>
                      </a:r>
                    </a:p>
                  </a:txBody>
                  <a:tcPr>
                    <a:solidFill>
                      <a:srgbClr val="F2F1EC"/>
                    </a:solidFill>
                  </a:tcPr>
                </a:tc>
              </a:tr>
              <a:tr h="384048">
                <a:tc>
                  <a:txBody>
                    <a:bodyPr/>
                    <a:lstStyle/>
                    <a:p>
                      <a:r>
                        <a:rPr sz="1400" b="0">
                          <a:solidFill>
                            <a:srgbClr val="0B0B0B"/>
                          </a:solidFill>
                          <a:latin typeface="Segoe UI"/>
                        </a:rPr>
                        <a:t>9.25 x 12 cm</a:t>
                      </a:r>
                    </a:p>
                  </a:txBody>
                  <a:tcPr>
                    <a:solidFill>
                      <a:srgbClr val="FCFCFB"/>
                    </a:solidFill>
                  </a:tcPr>
                </a:tc>
                <a:tc>
                  <a:txBody>
                    <a:bodyPr/>
                    <a:lstStyle/>
                    <a:p>
                      <a:r>
                        <a:rPr sz="1400" b="0">
                          <a:solidFill>
                            <a:srgbClr val="0B0B0B"/>
                          </a:solidFill>
                          <a:latin typeface="Segoe UI"/>
                        </a:rPr>
                        <a:t>15.2 cm</a:t>
                      </a:r>
                    </a:p>
                  </a:txBody>
                  <a:tcPr>
                    <a:solidFill>
                      <a:srgbClr val="FCFCFB"/>
                    </a:solidFill>
                  </a:tcPr>
                </a:tc>
                <a:tc>
                  <a:txBody>
                    <a:bodyPr/>
                    <a:lstStyle/>
                    <a:p>
                      <a:r>
                        <a:rPr sz="1400" b="0">
                          <a:solidFill>
                            <a:srgbClr val="0B0B0B"/>
                          </a:solidFill>
                          <a:latin typeface="Segoe UI"/>
                        </a:rPr>
                        <a:t>1.30</a:t>
                      </a:r>
                    </a:p>
                  </a:txBody>
                  <a:tcPr>
                    <a:solidFill>
                      <a:srgbClr val="FCFCFB"/>
                    </a:solidFill>
                  </a:tcPr>
                </a:tc>
                <a:tc>
                  <a:txBody>
                    <a:bodyPr/>
                    <a:lstStyle/>
                    <a:p>
                      <a:r>
                        <a:rPr sz="1400" b="0">
                          <a:solidFill>
                            <a:srgbClr val="0B0B0B"/>
                          </a:solidFill>
                          <a:latin typeface="Segoe UI"/>
                        </a:rPr>
                        <a:t>0.70 deg</a:t>
                      </a:r>
                    </a:p>
                  </a:txBody>
                  <a:tcPr>
                    <a:solidFill>
                      <a:srgbClr val="FCFCFB"/>
                    </a:solidFill>
                  </a:tcPr>
                </a:tc>
                <a:tc>
                  <a:txBody>
                    <a:bodyPr/>
                    <a:lstStyle/>
                    <a:p>
                      <a:r>
                        <a:rPr sz="1400" b="0">
                          <a:solidFill>
                            <a:srgbClr val="0B0B0B"/>
                          </a:solidFill>
                          <a:latin typeface="Segoe UI"/>
                        </a:rPr>
                        <a:t>2.01 deg</a:t>
                      </a:r>
                    </a:p>
                  </a:txBody>
                  <a:tcPr>
                    <a:solidFill>
                      <a:srgbClr val="FCFCFB"/>
                    </a:solidFill>
                  </a:tcPr>
                </a:tc>
                <a:tc>
                  <a:txBody>
                    <a:bodyPr/>
                    <a:lstStyle/>
                    <a:p>
                      <a:r>
                        <a:rPr sz="1400" b="0">
                          <a:solidFill>
                            <a:srgbClr val="0B0B0B"/>
                          </a:solidFill>
                          <a:latin typeface="Segoe UI"/>
                        </a:rPr>
                        <a:t>2.16 deg</a:t>
                      </a:r>
                    </a:p>
                  </a:txBody>
                  <a:tcPr>
                    <a:solidFill>
                      <a:srgbClr val="FCFCFB"/>
                    </a:solidFill>
                  </a:tcPr>
                </a:tc>
              </a:tr>
              <a:tr h="384048">
                <a:tc>
                  <a:txBody>
                    <a:bodyPr/>
                    <a:lstStyle/>
                    <a:p>
                      <a:r>
                        <a:rPr sz="1400" b="0">
                          <a:solidFill>
                            <a:srgbClr val="0B0B0B"/>
                          </a:solidFill>
                          <a:latin typeface="Segoe UI"/>
                        </a:rPr>
                        <a:t>9.25 x 16 cm</a:t>
                      </a:r>
                    </a:p>
                  </a:txBody>
                  <a:tcPr>
                    <a:solidFill>
                      <a:srgbClr val="F2F1EC"/>
                    </a:solidFill>
                  </a:tcPr>
                </a:tc>
                <a:tc>
                  <a:txBody>
                    <a:bodyPr/>
                    <a:lstStyle/>
                    <a:p>
                      <a:r>
                        <a:rPr sz="1400" b="0">
                          <a:solidFill>
                            <a:srgbClr val="0B0B0B"/>
                          </a:solidFill>
                          <a:latin typeface="Segoe UI"/>
                        </a:rPr>
                        <a:t>18.5 cm</a:t>
                      </a:r>
                    </a:p>
                  </a:txBody>
                  <a:tcPr>
                    <a:solidFill>
                      <a:srgbClr val="F2F1EC"/>
                    </a:solidFill>
                  </a:tcPr>
                </a:tc>
                <a:tc>
                  <a:txBody>
                    <a:bodyPr/>
                    <a:lstStyle/>
                    <a:p>
                      <a:r>
                        <a:rPr sz="1400" b="0">
                          <a:solidFill>
                            <a:srgbClr val="0B0B0B"/>
                          </a:solidFill>
                          <a:latin typeface="Segoe UI"/>
                        </a:rPr>
                        <a:t>1.73</a:t>
                      </a:r>
                    </a:p>
                  </a:txBody>
                  <a:tcPr>
                    <a:solidFill>
                      <a:srgbClr val="F2F1EC"/>
                    </a:solidFill>
                  </a:tcPr>
                </a:tc>
                <a:tc>
                  <a:txBody>
                    <a:bodyPr/>
                    <a:lstStyle/>
                    <a:p>
                      <a:r>
                        <a:rPr sz="1400" b="0">
                          <a:solidFill>
                            <a:srgbClr val="0B0B0B"/>
                          </a:solidFill>
                          <a:latin typeface="Segoe UI"/>
                        </a:rPr>
                        <a:t>0.51 deg</a:t>
                      </a:r>
                    </a:p>
                  </a:txBody>
                  <a:tcPr>
                    <a:solidFill>
                      <a:srgbClr val="F2F1EC"/>
                    </a:solidFill>
                  </a:tcPr>
                </a:tc>
                <a:tc>
                  <a:txBody>
                    <a:bodyPr/>
                    <a:lstStyle/>
                    <a:p>
                      <a:r>
                        <a:rPr sz="1400" b="0">
                          <a:solidFill>
                            <a:srgbClr val="0B0B0B"/>
                          </a:solidFill>
                          <a:latin typeface="Segoe UI"/>
                        </a:rPr>
                        <a:t>1.10 deg</a:t>
                      </a:r>
                    </a:p>
                  </a:txBody>
                  <a:tcPr>
                    <a:solidFill>
                      <a:srgbClr val="F2F1EC"/>
                    </a:solidFill>
                  </a:tcPr>
                </a:tc>
                <a:tc>
                  <a:txBody>
                    <a:bodyPr/>
                    <a:lstStyle/>
                    <a:p>
                      <a:r>
                        <a:rPr sz="1400" b="0">
                          <a:solidFill>
                            <a:srgbClr val="0B0B0B"/>
                          </a:solidFill>
                          <a:latin typeface="Segoe UI"/>
                        </a:rPr>
                        <a:t>1.42 deg</a:t>
                      </a:r>
                    </a:p>
                  </a:txBody>
                  <a:tcPr>
                    <a:solidFill>
                      <a:srgbClr val="F2F1EC"/>
                    </a:solidFill>
                  </a:tcPr>
                </a:tc>
              </a:tr>
              <a:tr h="384048">
                <a:tc>
                  <a:txBody>
                    <a:bodyPr/>
                    <a:lstStyle/>
                    <a:p>
                      <a:r>
                        <a:rPr sz="1400" b="0">
                          <a:solidFill>
                            <a:srgbClr val="0B0B0B"/>
                          </a:solidFill>
                          <a:latin typeface="Segoe UI"/>
                        </a:rPr>
                        <a:t>10 cm square (sim reference)</a:t>
                      </a:r>
                    </a:p>
                  </a:txBody>
                  <a:tcPr>
                    <a:solidFill>
                      <a:srgbClr val="FCFCFB"/>
                    </a:solidFill>
                  </a:tcPr>
                </a:tc>
                <a:tc>
                  <a:txBody>
                    <a:bodyPr/>
                    <a:lstStyle/>
                    <a:p>
                      <a:r>
                        <a:rPr sz="1400" b="0">
                          <a:solidFill>
                            <a:srgbClr val="0B0B0B"/>
                          </a:solidFill>
                          <a:latin typeface="Segoe UI"/>
                        </a:rPr>
                        <a:t>14.1 cm</a:t>
                      </a:r>
                    </a:p>
                  </a:txBody>
                  <a:tcPr>
                    <a:solidFill>
                      <a:srgbClr val="FCFCFB"/>
                    </a:solidFill>
                  </a:tcPr>
                </a:tc>
                <a:tc>
                  <a:txBody>
                    <a:bodyPr/>
                    <a:lstStyle/>
                    <a:p>
                      <a:r>
                        <a:rPr sz="1400" b="0">
                          <a:solidFill>
                            <a:srgbClr val="0B0B0B"/>
                          </a:solidFill>
                          <a:latin typeface="Segoe UI"/>
                        </a:rPr>
                        <a:t>1.00</a:t>
                      </a:r>
                    </a:p>
                  </a:txBody>
                  <a:tcPr>
                    <a:solidFill>
                      <a:srgbClr val="FCFCFB"/>
                    </a:solidFill>
                  </a:tcPr>
                </a:tc>
                <a:tc>
                  <a:txBody>
                    <a:bodyPr/>
                    <a:lstStyle/>
                    <a:p>
                      <a:r>
                        <a:rPr sz="1400" b="0">
                          <a:solidFill>
                            <a:srgbClr val="0B0B0B"/>
                          </a:solidFill>
                          <a:latin typeface="Segoe UI"/>
                        </a:rPr>
                        <a:t>1.12 deg</a:t>
                      </a:r>
                    </a:p>
                  </a:txBody>
                  <a:tcPr>
                    <a:solidFill>
                      <a:srgbClr val="FCFCFB"/>
                    </a:solidFill>
                  </a:tcPr>
                </a:tc>
                <a:tc>
                  <a:txBody>
                    <a:bodyPr/>
                    <a:lstStyle/>
                    <a:p>
                      <a:r>
                        <a:rPr sz="1400" b="0">
                          <a:solidFill>
                            <a:srgbClr val="0B0B0B"/>
                          </a:solidFill>
                          <a:latin typeface="Segoe UI"/>
                        </a:rPr>
                        <a:t>2.32 deg</a:t>
                      </a:r>
                    </a:p>
                  </a:txBody>
                  <a:tcPr>
                    <a:solidFill>
                      <a:srgbClr val="FCFCFB"/>
                    </a:solidFill>
                  </a:tcPr>
                </a:tc>
                <a:tc>
                  <a:txBody>
                    <a:bodyPr/>
                    <a:lstStyle/>
                    <a:p>
                      <a:r>
                        <a:rPr sz="1400" b="0">
                          <a:solidFill>
                            <a:srgbClr val="0B0B0B"/>
                          </a:solidFill>
                          <a:latin typeface="Segoe UI"/>
                        </a:rPr>
                        <a:t>2.43 deg</a:t>
                      </a:r>
                    </a:p>
                  </a:txBody>
                  <a:tcPr>
                    <a:solidFill>
                      <a:srgbClr val="FCFCFB"/>
                    </a:solidFill>
                  </a:tcPr>
                </a:tc>
              </a:tr>
              <a:tr h="384048">
                <a:tc>
                  <a:txBody>
                    <a:bodyPr/>
                    <a:lstStyle/>
                    <a:p>
                      <a:r>
                        <a:rPr sz="1400" b="0">
                          <a:solidFill>
                            <a:srgbClr val="0B0B0B"/>
                          </a:solidFill>
                          <a:latin typeface="Segoe UI"/>
                        </a:rPr>
                        <a:t>2.8 x 10 cm (one breadboard)</a:t>
                      </a:r>
                    </a:p>
                  </a:txBody>
                  <a:tcPr>
                    <a:solidFill>
                      <a:srgbClr val="F2F1EC"/>
                    </a:solidFill>
                  </a:tcPr>
                </a:tc>
                <a:tc>
                  <a:txBody>
                    <a:bodyPr/>
                    <a:lstStyle/>
                    <a:p>
                      <a:r>
                        <a:rPr sz="1400" b="0">
                          <a:solidFill>
                            <a:srgbClr val="0B0B0B"/>
                          </a:solidFill>
                          <a:latin typeface="Segoe UI"/>
                        </a:rPr>
                        <a:t>10.4 cm</a:t>
                      </a:r>
                    </a:p>
                  </a:txBody>
                  <a:tcPr>
                    <a:solidFill>
                      <a:srgbClr val="F2F1EC"/>
                    </a:solidFill>
                  </a:tcPr>
                </a:tc>
                <a:tc>
                  <a:txBody>
                    <a:bodyPr/>
                    <a:lstStyle/>
                    <a:p>
                      <a:r>
                        <a:rPr sz="1400" b="0">
                          <a:solidFill>
                            <a:srgbClr val="0B0B0B"/>
                          </a:solidFill>
                          <a:latin typeface="Segoe UI"/>
                        </a:rPr>
                        <a:t>3.57</a:t>
                      </a:r>
                    </a:p>
                  </a:txBody>
                  <a:tcPr>
                    <a:solidFill>
                      <a:srgbClr val="F2F1EC"/>
                    </a:solidFill>
                  </a:tcPr>
                </a:tc>
                <a:tc>
                  <a:txBody>
                    <a:bodyPr/>
                    <a:lstStyle/>
                    <a:p>
                      <a:r>
                        <a:rPr sz="1400" b="0">
                          <a:solidFill>
                            <a:srgbClr val="0B0B0B"/>
                          </a:solidFill>
                          <a:latin typeface="Segoe UI"/>
                        </a:rPr>
                        <a:t>1.87 deg</a:t>
                      </a:r>
                    </a:p>
                  </a:txBody>
                  <a:tcPr>
                    <a:solidFill>
                      <a:srgbClr val="F2F1EC"/>
                    </a:solidFill>
                  </a:tcPr>
                </a:tc>
                <a:tc>
                  <a:txBody>
                    <a:bodyPr/>
                    <a:lstStyle/>
                    <a:p>
                      <a:r>
                        <a:rPr sz="1400" b="0">
                          <a:solidFill>
                            <a:srgbClr val="0B0B0B"/>
                          </a:solidFill>
                          <a:latin typeface="Segoe UI"/>
                        </a:rPr>
                        <a:t>7.87 deg</a:t>
                      </a:r>
                    </a:p>
                  </a:txBody>
                  <a:tcPr>
                    <a:solidFill>
                      <a:srgbClr val="F2F1EC"/>
                    </a:solidFill>
                  </a:tcPr>
                </a:tc>
                <a:tc>
                  <a:txBody>
                    <a:bodyPr/>
                    <a:lstStyle/>
                    <a:p>
                      <a:r>
                        <a:rPr sz="1400" b="0">
                          <a:solidFill>
                            <a:srgbClr val="0B0B0B"/>
                          </a:solidFill>
                          <a:latin typeface="Segoe UI"/>
                        </a:rPr>
                        <a:t>8.43 deg</a:t>
                      </a:r>
                    </a:p>
                  </a:txBody>
                  <a:tcPr>
                    <a:solidFill>
                      <a:srgbClr val="F2F1EC"/>
                    </a:solidFill>
                  </a:tcPr>
                </a:tc>
              </a:tr>
              <a:tr h="384048">
                <a:tc>
                  <a:txBody>
                    <a:bodyPr/>
                    <a:lstStyle/>
                    <a:p>
                      <a:r>
                        <a:rPr sz="1400" b="0">
                          <a:solidFill>
                            <a:srgbClr val="0B0B0B"/>
                          </a:solidFill>
                          <a:latin typeface="Segoe UI"/>
                        </a:rPr>
                        <a:t>2.5 cm square</a:t>
                      </a:r>
                    </a:p>
                  </a:txBody>
                  <a:tcPr>
                    <a:solidFill>
                      <a:srgbClr val="FCFCFB"/>
                    </a:solidFill>
                  </a:tcPr>
                </a:tc>
                <a:tc>
                  <a:txBody>
                    <a:bodyPr/>
                    <a:lstStyle/>
                    <a:p>
                      <a:r>
                        <a:rPr sz="1400" b="0">
                          <a:solidFill>
                            <a:srgbClr val="0B0B0B"/>
                          </a:solidFill>
                          <a:latin typeface="Segoe UI"/>
                        </a:rPr>
                        <a:t>3.5 cm</a:t>
                      </a:r>
                    </a:p>
                  </a:txBody>
                  <a:tcPr>
                    <a:solidFill>
                      <a:srgbClr val="FCFCFB"/>
                    </a:solidFill>
                  </a:tcPr>
                </a:tc>
                <a:tc>
                  <a:txBody>
                    <a:bodyPr/>
                    <a:lstStyle/>
                    <a:p>
                      <a:r>
                        <a:rPr sz="1400" b="0">
                          <a:solidFill>
                            <a:srgbClr val="0B0B0B"/>
                          </a:solidFill>
                          <a:latin typeface="Segoe UI"/>
                        </a:rPr>
                        <a:t>1.00</a:t>
                      </a:r>
                    </a:p>
                  </a:txBody>
                  <a:tcPr>
                    <a:solidFill>
                      <a:srgbClr val="FCFCFB"/>
                    </a:solidFill>
                  </a:tcPr>
                </a:tc>
                <a:tc>
                  <a:txBody>
                    <a:bodyPr/>
                    <a:lstStyle/>
                    <a:p>
                      <a:r>
                        <a:rPr sz="1400" b="0">
                          <a:solidFill>
                            <a:srgbClr val="0B0B0B"/>
                          </a:solidFill>
                          <a:latin typeface="Segoe UI"/>
                        </a:rPr>
                        <a:t>6.33 deg</a:t>
                      </a:r>
                    </a:p>
                  </a:txBody>
                  <a:tcPr>
                    <a:solidFill>
                      <a:srgbClr val="FCFCFB"/>
                    </a:solidFill>
                  </a:tcPr>
                </a:tc>
                <a:tc>
                  <a:txBody>
                    <a:bodyPr/>
                    <a:lstStyle/>
                    <a:p>
                      <a:r>
                        <a:rPr sz="1400" b="0">
                          <a:solidFill>
                            <a:srgbClr val="0B0B0B"/>
                          </a:solidFill>
                          <a:latin typeface="Segoe UI"/>
                        </a:rPr>
                        <a:t>8.60 deg</a:t>
                      </a:r>
                    </a:p>
                  </a:txBody>
                  <a:tcPr>
                    <a:solidFill>
                      <a:srgbClr val="FCFCFB"/>
                    </a:solidFill>
                  </a:tcPr>
                </a:tc>
                <a:tc>
                  <a:txBody>
                    <a:bodyPr/>
                    <a:lstStyle/>
                    <a:p>
                      <a:r>
                        <a:rPr sz="1400" b="0">
                          <a:solidFill>
                            <a:srgbClr val="0B0B0B"/>
                          </a:solidFill>
                          <a:latin typeface="Segoe UI"/>
                        </a:rPr>
                        <a:t>9.20 deg</a:t>
                      </a:r>
                    </a:p>
                  </a:txBody>
                  <a:tcPr>
                    <a:solidFill>
                      <a:srgbClr val="FCFCFB"/>
                    </a:solidFill>
                  </a:tcPr>
                </a:tc>
              </a:tr>
            </a:tbl>
          </a:graphicData>
        </a:graphic>
      </p:graphicFrame>
      <p:sp>
        <p:nvSpPr>
          <p:cNvPr id="5" name="TextBox 4"/>
          <p:cNvSpPr txBox="1"/>
          <p:nvPr/>
        </p:nvSpPr>
        <p:spPr>
          <a:xfrm>
            <a:off x="566928" y="4517136"/>
            <a:ext cx="11064240" cy="1280160"/>
          </a:xfrm>
          <a:prstGeom prst="rect">
            <a:avLst/>
          </a:prstGeom>
          <a:noFill/>
        </p:spPr>
        <p:txBody>
          <a:bodyPr wrap="square">
            <a:spAutoFit/>
          </a:bodyPr>
          <a:lstStyle/>
          <a:p>
            <a:pPr algn="l">
              <a:spcAft>
                <a:spcPts val="1000"/>
              </a:spcAft>
            </a:pPr>
            <a:r>
              <a:rPr sz="1500" b="0">
                <a:solidFill>
                  <a:srgbClr val="52514E"/>
                </a:solidFill>
                <a:latin typeface="Segoe UI"/>
              </a:rPr>
              <a:t>Simulation only: 36 angles x 3 trials, 2 m source, 20 dB SNR. No reverberation, and the estimator is handed the exact geometry, so this RANKS layouts rather than predicts real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How correctness was established</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Build ONE trusted reference, check everything against it</a:t>
            </a:r>
          </a:p>
          <a:p>
            <a:pPr algn="l">
              <a:spcAft>
                <a:spcPts val="1400"/>
              </a:spcAft>
            </a:pPr>
            <a:r>
              <a:rPr sz="1900" b="0">
                <a:solidFill>
                  <a:srgbClr val="0B0B0B"/>
                </a:solidFill>
                <a:latin typeface="Segoe UI"/>
              </a:rPr>
              <a:t>•  1.  Verify in simulation, where truth is known</a:t>
            </a:r>
          </a:p>
          <a:p>
            <a:pPr algn="l">
              <a:spcAft>
                <a:spcPts val="1400"/>
              </a:spcAft>
            </a:pPr>
            <a:r>
              <a:rPr sz="1900" b="0">
                <a:solidFill>
                  <a:srgbClr val="0B0B0B"/>
                </a:solidFill>
                <a:latin typeface="Segoe UI"/>
              </a:rPr>
              <a:t>•  2.  Prove channel sync separately from geometry</a:t>
            </a:r>
          </a:p>
          <a:p>
            <a:pPr algn="l">
              <a:spcAft>
                <a:spcPts val="1400"/>
              </a:spcAft>
            </a:pPr>
            <a:r>
              <a:rPr sz="1900" b="0">
                <a:solidFill>
                  <a:srgbClr val="0B0B0B"/>
                </a:solidFill>
                <a:latin typeface="Segoe UI"/>
              </a:rPr>
              <a:t>•  3.  Share code between the test and the reference so they cannot drift</a:t>
            </a:r>
          </a:p>
          <a:p>
            <a:pPr algn="l">
              <a:spcAft>
                <a:spcPts val="1400"/>
              </a:spcAft>
            </a:pPr>
            <a:r>
              <a:rPr sz="1900" b="0">
                <a:solidFill>
                  <a:srgbClr val="0B0B0B"/>
                </a:solidFill>
                <a:latin typeface="Segoe UI"/>
              </a:rPr>
              <a:t>•  4.  Compare the embedded port to the reference on identical samples</a:t>
            </a:r>
          </a:p>
          <a:p>
            <a:pPr algn="l">
              <a:spcAft>
                <a:spcPts val="800"/>
              </a:spcAft>
            </a:pPr>
            <a:r>
              <a:rPr sz="1700" b="0">
                <a:solidFill>
                  <a:srgbClr val="52514E"/>
                </a:solidFill>
                <a:latin typeface="Segoe UI"/>
              </a:rPr>
              <a:t>Simulation: delay bias under 0.001 samples, angle error under 0.1 deg, about 0.4 deg at 0 dB SNR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Result, and what dominated the error</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wall.png"/>
          <p:cNvPicPr>
            <a:picLocks noChangeAspect="1"/>
          </p:cNvPicPr>
          <p:nvPr/>
        </p:nvPicPr>
        <p:blipFill>
          <a:blip r:embed="rId2"/>
          <a:stretch>
            <a:fillRect/>
          </a:stretch>
        </p:blipFill>
        <p:spPr>
          <a:xfrm>
            <a:off x="2218484" y="1508760"/>
            <a:ext cx="7754726" cy="4297680"/>
          </a:xfrm>
          <a:prstGeom prst="rect">
            <a:avLst/>
          </a:prstGeom>
        </p:spPr>
      </p:pic>
      <p:sp>
        <p:nvSpPr>
          <p:cNvPr id="5" name="TextBox 4"/>
          <p:cNvSpPr txBox="1"/>
          <p:nvPr/>
        </p:nvSpPr>
        <p:spPr>
          <a:xfrm>
            <a:off x="566928" y="5943600"/>
            <a:ext cx="11064240" cy="640080"/>
          </a:xfrm>
          <a:prstGeom prst="rect">
            <a:avLst/>
          </a:prstGeom>
          <a:noFill/>
        </p:spPr>
        <p:txBody>
          <a:bodyPr wrap="square">
            <a:spAutoFit/>
          </a:bodyPr>
          <a:lstStyle/>
          <a:p>
            <a:pPr algn="l">
              <a:spcAft>
                <a:spcPts val="1000"/>
              </a:spcAft>
            </a:pPr>
            <a:r>
              <a:rPr sz="1500" b="0">
                <a:solidFill>
                  <a:srgbClr val="52514E"/>
                </a:solidFill>
                <a:latin typeface="Segoe UI"/>
              </a:rPr>
              <a:t>At 65 cm the wall reflection arrived inside the analysis window and corrupted one specific mic pair. Moving to 2.1 m fixed it with no code change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A self-check that needs no ground truth</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Delay is antisymmetric: A to B, plus B to C, must equal A to C</a:t>
            </a:r>
          </a:p>
          <a:p>
            <a:pPr algn="l">
              <a:spcAft>
                <a:spcPts val="1400"/>
              </a:spcAft>
            </a:pPr>
            <a:r>
              <a:rPr sz="1900" b="0">
                <a:solidFill>
                  <a:srgbClr val="0B0B0B"/>
                </a:solidFill>
                <a:latin typeface="Segoe UI"/>
              </a:rPr>
              <a:t>•  It does not, when a reflection has corrupted a pair</a:t>
            </a:r>
          </a:p>
          <a:p>
            <a:pPr algn="l">
              <a:spcAft>
                <a:spcPts val="1400"/>
              </a:spcAft>
            </a:pPr>
            <a:r>
              <a:rPr sz="1900" b="0">
                <a:solidFill>
                  <a:srgbClr val="0B0B0B"/>
                </a:solidFill>
                <a:latin typeface="Segoe UI"/>
              </a:rPr>
              <a:t>•  Worst violation across all four triangles flags a bad capture</a:t>
            </a:r>
          </a:p>
          <a:p>
            <a:pPr algn="l">
              <a:spcAft>
                <a:spcPts val="1400"/>
              </a:spcAft>
            </a:pPr>
            <a:r>
              <a:rPr sz="1900" b="0">
                <a:solidFill>
                  <a:srgbClr val="0B0B0B"/>
                </a:solidFill>
                <a:latin typeface="Segoe UI"/>
              </a:rPr>
              <a:t>•  Residual tracked the error: 0.119, 0.347, 0.499 samples</a:t>
            </a:r>
          </a:p>
          <a:p>
            <a:pPr algn="l">
              <a:spcAft>
                <a:spcPts val="800"/>
              </a:spcAft>
            </a:pPr>
            <a:r>
              <a:rPr sz="1700" b="0">
                <a:solidFill>
                  <a:srgbClr val="52514E"/>
                </a:solidFill>
                <a:latin typeface="Segoe UI"/>
              </a:rPr>
              <a:t>against errors of 0.6, 2.1 and 6.4 degrees</a:t>
            </a:r>
          </a:p>
          <a:p>
            <a:pPr algn="l">
              <a:spcAft>
                <a:spcPts val="1400"/>
              </a:spcAft>
            </a:pPr>
            <a:r>
              <a:rPr sz="1900" b="0">
                <a:solidFill>
                  <a:srgbClr val="0B0B0B"/>
                </a:solidFill>
                <a:latin typeface="Segoe UI"/>
              </a:rPr>
              <a:t>•  The firmware flagged both bad captures on its 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Putting it on the microcontroller</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flash.png"/>
          <p:cNvPicPr>
            <a:picLocks noChangeAspect="1"/>
          </p:cNvPicPr>
          <p:nvPr/>
        </p:nvPicPr>
        <p:blipFill>
          <a:blip r:embed="rId2"/>
          <a:stretch>
            <a:fillRect/>
          </a:stretch>
        </p:blipFill>
        <p:spPr>
          <a:xfrm>
            <a:off x="2568046" y="1508760"/>
            <a:ext cx="7055602" cy="4297680"/>
          </a:xfrm>
          <a:prstGeom prst="rect">
            <a:avLst/>
          </a:prstGeom>
        </p:spPr>
      </p:pic>
      <p:sp>
        <p:nvSpPr>
          <p:cNvPr id="5" name="TextBox 4"/>
          <p:cNvSpPr txBox="1"/>
          <p:nvPr/>
        </p:nvSpPr>
        <p:spPr>
          <a:xfrm>
            <a:off x="566928" y="5943600"/>
            <a:ext cx="11064240" cy="640080"/>
          </a:xfrm>
          <a:prstGeom prst="rect">
            <a:avLst/>
          </a:prstGeom>
          <a:noFill/>
        </p:spPr>
        <p:txBody>
          <a:bodyPr wrap="square">
            <a:spAutoFit/>
          </a:bodyPr>
          <a:lstStyle/>
          <a:p>
            <a:pPr algn="l">
              <a:spcAft>
                <a:spcPts val="1000"/>
              </a:spcAft>
            </a:pPr>
            <a:r>
              <a:rPr sz="1500" b="0">
                <a:solidFill>
                  <a:srgbClr val="52514E"/>
                </a:solidFill>
                <a:latin typeface="Segoe UI"/>
              </a:rPr>
              <a:t>Selective table mode names only the three tables a 4096 point real FFT needs. Final image 55.7 KB, with 48 KB of FFT buffers in a separate RAM section that costs no flash.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Every failure this summer was silent</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600200"/>
          <a:ext cx="11064240" cy="2304288"/>
        </p:xfrm>
        <a:graphic>
          <a:graphicData uri="http://schemas.openxmlformats.org/drawingml/2006/table">
            <a:tbl>
              <a:tblPr firstRow="1" bandRow="1">
                <a:tableStyleId>{5C22544A-7EE6-4342-B048-85BDC9FD1C3A}</a:tableStyleId>
              </a:tblPr>
              <a:tblGrid>
                <a:gridCol w="2194560"/>
                <a:gridCol w="3108960"/>
                <a:gridCol w="5760720"/>
              </a:tblGrid>
              <a:tr h="384048">
                <a:tc>
                  <a:txBody>
                    <a:bodyPr/>
                    <a:lstStyle/>
                    <a:p>
                      <a:r>
                        <a:rPr sz="1500" b="1">
                          <a:solidFill>
                            <a:srgbClr val="FFFFFF"/>
                          </a:solidFill>
                          <a:latin typeface="Segoe UI"/>
                        </a:rPr>
                        <a:t>What broke</a:t>
                      </a:r>
                    </a:p>
                  </a:txBody>
                  <a:tcPr>
                    <a:solidFill>
                      <a:srgbClr val="0B0B0B"/>
                    </a:solidFill>
                  </a:tcPr>
                </a:tc>
                <a:tc>
                  <a:txBody>
                    <a:bodyPr/>
                    <a:lstStyle/>
                    <a:p>
                      <a:r>
                        <a:rPr sz="1500" b="1">
                          <a:solidFill>
                            <a:srgbClr val="FFFFFF"/>
                          </a:solidFill>
                          <a:latin typeface="Segoe UI"/>
                        </a:rPr>
                        <a:t>What you saw</a:t>
                      </a:r>
                    </a:p>
                  </a:txBody>
                  <a:tcPr>
                    <a:solidFill>
                      <a:srgbClr val="0B0B0B"/>
                    </a:solidFill>
                  </a:tcPr>
                </a:tc>
                <a:tc>
                  <a:txBody>
                    <a:bodyPr/>
                    <a:lstStyle/>
                    <a:p>
                      <a:r>
                        <a:rPr sz="1500" b="1">
                          <a:solidFill>
                            <a:srgbClr val="FFFFFF"/>
                          </a:solidFill>
                          <a:latin typeface="Segoe UI"/>
                        </a:rPr>
                        <a:t>Actual cause</a:t>
                      </a:r>
                    </a:p>
                  </a:txBody>
                  <a:tcPr>
                    <a:solidFill>
                      <a:srgbClr val="0B0B0B"/>
                    </a:solidFill>
                  </a:tcPr>
                </a:tc>
              </a:tr>
              <a:tr h="384048">
                <a:tc>
                  <a:txBody>
                    <a:bodyPr/>
                    <a:lstStyle/>
                    <a:p>
                      <a:r>
                        <a:rPr sz="1400" b="0">
                          <a:solidFill>
                            <a:srgbClr val="0B0B0B"/>
                          </a:solidFill>
                          <a:latin typeface="Segoe UI"/>
                        </a:rPr>
                        <a:t>Config tool regeneration</a:t>
                      </a:r>
                    </a:p>
                  </a:txBody>
                  <a:tcPr>
                    <a:solidFill>
                      <a:srgbClr val="F2F1EC"/>
                    </a:solidFill>
                  </a:tcPr>
                </a:tc>
                <a:tc>
                  <a:txBody>
                    <a:bodyPr/>
                    <a:lstStyle/>
                    <a:p>
                      <a:r>
                        <a:rPr sz="1400" b="0">
                          <a:solidFill>
                            <a:srgbClr val="0B0B0B"/>
                          </a:solidFill>
                          <a:latin typeface="Segoe UI"/>
                        </a:rPr>
                        <a:t>Capture quietly wrong, twice</a:t>
                      </a:r>
                    </a:p>
                  </a:txBody>
                  <a:tcPr>
                    <a:solidFill>
                      <a:srgbClr val="F2F1EC"/>
                    </a:solidFill>
                  </a:tcPr>
                </a:tc>
                <a:tc>
                  <a:txBody>
                    <a:bodyPr/>
                    <a:lstStyle/>
                    <a:p>
                      <a:r>
                        <a:rPr sz="1400" b="0">
                          <a:solidFill>
                            <a:srgbClr val="0B0B0B"/>
                          </a:solidFill>
                          <a:latin typeface="Segoe UI"/>
                        </a:rPr>
                        <a:t>DMA reverted to Normal mode, later to Byte width</a:t>
                      </a:r>
                    </a:p>
                  </a:txBody>
                  <a:tcPr>
                    <a:solidFill>
                      <a:srgbClr val="F2F1EC"/>
                    </a:solidFill>
                  </a:tcPr>
                </a:tc>
              </a:tr>
              <a:tr h="384048">
                <a:tc>
                  <a:txBody>
                    <a:bodyPr/>
                    <a:lstStyle/>
                    <a:p>
                      <a:r>
                        <a:rPr sz="1400" b="0">
                          <a:solidFill>
                            <a:srgbClr val="0B0B0B"/>
                          </a:solidFill>
                          <a:latin typeface="Segoe UI"/>
                        </a:rPr>
                        <a:t>Serial dump</a:t>
                      </a:r>
                    </a:p>
                  </a:txBody>
                  <a:tcPr>
                    <a:solidFill>
                      <a:srgbClr val="FCFCFB"/>
                    </a:solidFill>
                  </a:tcPr>
                </a:tc>
                <a:tc>
                  <a:txBody>
                    <a:bodyPr/>
                    <a:lstStyle/>
                    <a:p>
                      <a:r>
                        <a:rPr sz="1400" b="0">
                          <a:solidFill>
                            <a:srgbClr val="0B0B0B"/>
                          </a:solidFill>
                          <a:latin typeface="Segoe UI"/>
                        </a:rPr>
                        <a:t>Only part of the recording arrived</a:t>
                      </a:r>
                    </a:p>
                  </a:txBody>
                  <a:tcPr>
                    <a:solidFill>
                      <a:srgbClr val="FCFCFB"/>
                    </a:solidFill>
                  </a:tcPr>
                </a:tc>
                <a:tc>
                  <a:txBody>
                    <a:bodyPr/>
                    <a:lstStyle/>
                    <a:p>
                      <a:r>
                        <a:rPr sz="1400" b="0">
                          <a:solidFill>
                            <a:srgbClr val="0B0B0B"/>
                          </a:solidFill>
                          <a:latin typeface="Segoe UI"/>
                        </a:rPr>
                        <a:t>Size argument is 16-bit: 128000 truncated to 62464</a:t>
                      </a:r>
                    </a:p>
                  </a:txBody>
                  <a:tcPr>
                    <a:solidFill>
                      <a:srgbClr val="FCFCFB"/>
                    </a:solidFill>
                  </a:tcPr>
                </a:tc>
              </a:tr>
              <a:tr h="384048">
                <a:tc>
                  <a:txBody>
                    <a:bodyPr/>
                    <a:lstStyle/>
                    <a:p>
                      <a:r>
                        <a:rPr sz="1400" b="0">
                          <a:solidFill>
                            <a:srgbClr val="0B0B0B"/>
                          </a:solidFill>
                          <a:latin typeface="Segoe UI"/>
                        </a:rPr>
                        <a:t>Board's report</a:t>
                      </a:r>
                    </a:p>
                  </a:txBody>
                  <a:tcPr>
                    <a:solidFill>
                      <a:srgbClr val="F2F1EC"/>
                    </a:solidFill>
                  </a:tcPr>
                </a:tc>
                <a:tc>
                  <a:txBody>
                    <a:bodyPr/>
                    <a:lstStyle/>
                    <a:p>
                      <a:r>
                        <a:rPr sz="1400" b="0">
                          <a:solidFill>
                            <a:srgbClr val="0B0B0B"/>
                          </a:solidFill>
                          <a:latin typeface="Segoe UI"/>
                        </a:rPr>
                        <a:t>Every float blank, integers fine</a:t>
                      </a:r>
                    </a:p>
                  </a:txBody>
                  <a:tcPr>
                    <a:solidFill>
                      <a:srgbClr val="F2F1EC"/>
                    </a:solidFill>
                  </a:tcPr>
                </a:tc>
                <a:tc>
                  <a:txBody>
                    <a:bodyPr/>
                    <a:lstStyle/>
                    <a:p>
                      <a:r>
                        <a:rPr sz="1400" b="0">
                          <a:solidFill>
                            <a:srgbClr val="0B0B0B"/>
                          </a:solidFill>
                          <a:latin typeface="Segoe UI"/>
                        </a:rPr>
                        <a:t>nano.specs printf drops floating point support</a:t>
                      </a:r>
                    </a:p>
                  </a:txBody>
                  <a:tcPr>
                    <a:solidFill>
                      <a:srgbClr val="F2F1EC"/>
                    </a:solidFill>
                  </a:tcPr>
                </a:tc>
              </a:tr>
              <a:tr h="384048">
                <a:tc>
                  <a:txBody>
                    <a:bodyPr/>
                    <a:lstStyle/>
                    <a:p>
                      <a:r>
                        <a:rPr sz="1400" b="0">
                          <a:solidFill>
                            <a:srgbClr val="0B0B0B"/>
                          </a:solidFill>
                          <a:latin typeface="Segoe UI"/>
                        </a:rPr>
                        <a:t>Clap trigger</a:t>
                      </a:r>
                    </a:p>
                  </a:txBody>
                  <a:tcPr>
                    <a:solidFill>
                      <a:srgbClr val="FCFCFB"/>
                    </a:solidFill>
                  </a:tcPr>
                </a:tc>
                <a:tc>
                  <a:txBody>
                    <a:bodyPr/>
                    <a:lstStyle/>
                    <a:p>
                      <a:r>
                        <a:rPr sz="1400" b="0">
                          <a:solidFill>
                            <a:srgbClr val="0B0B0B"/>
                          </a:solidFill>
                          <a:latin typeface="Segoe UI"/>
                        </a:rPr>
                        <a:t>LED on forever, script timed out</a:t>
                      </a:r>
                    </a:p>
                  </a:txBody>
                  <a:tcPr>
                    <a:solidFill>
                      <a:srgbClr val="FCFCFB"/>
                    </a:solidFill>
                  </a:tcPr>
                </a:tc>
                <a:tc>
                  <a:txBody>
                    <a:bodyPr/>
                    <a:lstStyle/>
                    <a:p>
                      <a:r>
                        <a:rPr sz="1400" b="0">
                          <a:solidFill>
                            <a:srgbClr val="0B0B0B"/>
                          </a:solidFill>
                          <a:latin typeface="Segoe UI"/>
                        </a:rPr>
                        <a:t>Threshold sized next to a wall, too high once it was gone</a:t>
                      </a:r>
                    </a:p>
                  </a:txBody>
                  <a:tcPr>
                    <a:solidFill>
                      <a:srgbClr val="FCFCFB"/>
                    </a:solidFill>
                  </a:tcPr>
                </a:tc>
              </a:tr>
              <a:tr h="384048">
                <a:tc>
                  <a:txBody>
                    <a:bodyPr/>
                    <a:lstStyle/>
                    <a:p>
                      <a:r>
                        <a:rPr sz="1400" b="0">
                          <a:solidFill>
                            <a:srgbClr val="0B0B0B"/>
                          </a:solidFill>
                          <a:latin typeface="Segoe UI"/>
                        </a:rPr>
                        <a:t>Weak transient warning</a:t>
                      </a:r>
                    </a:p>
                  </a:txBody>
                  <a:tcPr>
                    <a:solidFill>
                      <a:srgbClr val="F2F1EC"/>
                    </a:solidFill>
                  </a:tcPr>
                </a:tc>
                <a:tc>
                  <a:txBody>
                    <a:bodyPr/>
                    <a:lstStyle/>
                    <a:p>
                      <a:r>
                        <a:rPr sz="1400" b="0">
                          <a:solidFill>
                            <a:srgbClr val="0B0B0B"/>
                          </a:solidFill>
                          <a:latin typeface="Segoe UI"/>
                        </a:rPr>
                        <a:t>Loud clap called marginal</a:t>
                      </a:r>
                    </a:p>
                  </a:txBody>
                  <a:tcPr>
                    <a:solidFill>
                      <a:srgbClr val="F2F1EC"/>
                    </a:solidFill>
                  </a:tcPr>
                </a:tc>
                <a:tc>
                  <a:txBody>
                    <a:bodyPr/>
                    <a:lstStyle/>
                    <a:p>
                      <a:r>
                        <a:rPr sz="1400" b="0">
                          <a:solidFill>
                            <a:srgbClr val="0B0B0B"/>
                          </a:solidFill>
                          <a:latin typeface="Segoe UI"/>
                        </a:rPr>
                        <a:t>DC offset in the noise estimate, not real room noise</a:t>
                      </a:r>
                    </a:p>
                  </a:txBody>
                  <a:tcPr>
                    <a:solidFill>
                      <a:srgbClr val="F2F1E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What is not done</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45920"/>
            <a:ext cx="11064240" cy="4480560"/>
          </a:xfrm>
          <a:prstGeom prst="rect">
            <a:avLst/>
          </a:prstGeom>
          <a:noFill/>
        </p:spPr>
        <p:txBody>
          <a:bodyPr wrap="square">
            <a:spAutoFit/>
          </a:bodyPr>
          <a:lstStyle/>
          <a:p>
            <a:pPr algn="l">
              <a:spcAft>
                <a:spcPts val="200"/>
              </a:spcAft>
            </a:pPr>
            <a:r>
              <a:rPr sz="2000" b="1">
                <a:solidFill>
                  <a:srgbClr val="0B0B0B"/>
                </a:solidFill>
                <a:latin typeface="Segoe UI"/>
              </a:rPr>
              <a:t>•  The board's own bearing has NEVER printed</a:t>
            </a:r>
          </a:p>
          <a:p>
            <a:pPr algn="l">
              <a:spcAft>
                <a:spcPts val="1500"/>
              </a:spcAft>
            </a:pPr>
            <a:r>
              <a:rPr sz="1600" b="0">
                <a:solidFill>
                  <a:srgbClr val="52514E"/>
                </a:solidFill>
                <a:latin typeface="Segoe UI"/>
              </a:rPr>
              <a:t>fix is written and committed, but not flashed yet</a:t>
            </a:r>
          </a:p>
          <a:p>
            <a:pPr algn="l">
              <a:spcAft>
                <a:spcPts val="200"/>
              </a:spcAft>
            </a:pPr>
            <a:r>
              <a:rPr sz="2000" b="1">
                <a:solidFill>
                  <a:srgbClr val="0B0B0B"/>
                </a:solidFill>
                <a:latin typeface="Segoe UI"/>
              </a:rPr>
              <a:t>•  Ground truth covers two angles, three trials</a:t>
            </a:r>
          </a:p>
          <a:p>
            <a:pPr algn="l">
              <a:spcAft>
                <a:spcPts val="1500"/>
              </a:spcAft>
            </a:pPr>
            <a:r>
              <a:rPr sz="1600" b="0">
                <a:solidFill>
                  <a:srgbClr val="52514E"/>
                </a:solidFill>
                <a:latin typeface="Segoe UI"/>
              </a:rPr>
              <a:t>a real validation plot needs a full sweep</a:t>
            </a:r>
          </a:p>
          <a:p>
            <a:pPr algn="l">
              <a:spcAft>
                <a:spcPts val="200"/>
              </a:spcAft>
            </a:pPr>
            <a:r>
              <a:rPr sz="2000" b="1">
                <a:solidFill>
                  <a:srgbClr val="0B0B0B"/>
                </a:solidFill>
                <a:latin typeface="Segoe UI"/>
              </a:rPr>
              <a:t>•  315 degrees is worse than 0 degrees and unexplained</a:t>
            </a:r>
          </a:p>
          <a:p>
            <a:pPr algn="l">
              <a:spcAft>
                <a:spcPts val="1500"/>
              </a:spcAft>
            </a:pPr>
            <a:r>
              <a:rPr sz="1600" b="0">
                <a:solidFill>
                  <a:srgbClr val="52514E"/>
                </a:solidFill>
                <a:latin typeface="Segoe UI"/>
              </a:rPr>
              <a:t>the array should have no bad directions</a:t>
            </a:r>
          </a:p>
          <a:p>
            <a:pPr algn="l">
              <a:spcAft>
                <a:spcPts val="200"/>
              </a:spcAft>
            </a:pPr>
            <a:r>
              <a:rPr sz="2000" b="1">
                <a:solidFill>
                  <a:srgbClr val="0B0B0B"/>
                </a:solidFill>
                <a:latin typeface="Segoe UI"/>
              </a:rPr>
              <a:t>•  Nothing is wireless, and there is one node</a:t>
            </a:r>
          </a:p>
          <a:p>
            <a:pPr algn="l">
              <a:spcAft>
                <a:spcPts val="1500"/>
              </a:spcAft>
            </a:pPr>
            <a:r>
              <a:rPr sz="1600" b="0">
                <a:solidFill>
                  <a:srgbClr val="52514E"/>
                </a:solidFill>
                <a:latin typeface="Segoe UI"/>
              </a:rPr>
              <a:t>multi-node needs inter-node time sync, a hard problem itself</a:t>
            </a:r>
          </a:p>
          <a:p>
            <a:pPr algn="l">
              <a:spcAft>
                <a:spcPts val="200"/>
              </a:spcAft>
            </a:pPr>
            <a:r>
              <a:rPr sz="2000" b="1">
                <a:solidFill>
                  <a:srgbClr val="0B0B0B"/>
                </a:solidFill>
                <a:latin typeface="Segoe UI"/>
              </a:rPr>
              <a:t>•  Claps only, one second at a time</a:t>
            </a:r>
          </a:p>
          <a:p>
            <a:pPr algn="l">
              <a:spcAft>
                <a:spcPts val="1500"/>
              </a:spcAft>
            </a:pPr>
            <a:r>
              <a:rPr sz="1600" b="0">
                <a:solidFill>
                  <a:srgbClr val="52514E"/>
                </a:solidFill>
                <a:latin typeface="Segoe UI"/>
              </a:rPr>
              <a:t>no continuous operation, no speech, no battery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Next steps</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1.  Flash the current firmware, confirm the report prints</a:t>
            </a:r>
          </a:p>
          <a:p>
            <a:pPr algn="l">
              <a:spcAft>
                <a:spcPts val="1400"/>
              </a:spcAft>
            </a:pPr>
            <a:r>
              <a:rPr sz="1900" b="0">
                <a:solidFill>
                  <a:srgbClr val="0B0B0B"/>
                </a:solidFill>
                <a:latin typeface="Segoe UI"/>
              </a:rPr>
              <a:t>•  2.  Run the board versus reference comparison on a fresh capture</a:t>
            </a:r>
          </a:p>
          <a:p>
            <a:pPr algn="l">
              <a:spcAft>
                <a:spcPts val="1400"/>
              </a:spcAft>
            </a:pPr>
            <a:r>
              <a:rPr sz="1900" b="0">
                <a:solidFill>
                  <a:srgbClr val="0B0B0B"/>
                </a:solidFill>
                <a:latin typeface="Segoe UI"/>
              </a:rPr>
              <a:t>•  3.  Sweep eight angles, five trials each, produce the validation plot</a:t>
            </a:r>
          </a:p>
          <a:p>
            <a:pPr algn="l">
              <a:spcAft>
                <a:spcPts val="1400"/>
              </a:spcAft>
            </a:pPr>
            <a:r>
              <a:rPr sz="1900" b="0">
                <a:solidFill>
                  <a:srgbClr val="0B0B0B"/>
                </a:solidFill>
                <a:latin typeface="Segoe UI"/>
              </a:rPr>
              <a:t>•  4.  Then choose a direction:</a:t>
            </a:r>
          </a:p>
          <a:p>
            <a:pPr algn="l">
              <a:spcAft>
                <a:spcPts val="800"/>
              </a:spcAft>
            </a:pPr>
            <a:r>
              <a:rPr sz="1700" b="0">
                <a:solidFill>
                  <a:srgbClr val="52514E"/>
                </a:solidFill>
                <a:latin typeface="Segoe UI"/>
              </a:rPr>
              <a:t>multi-node cross-bearing  |  continuous operation  |  sources harder than claps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spAutoFit/>
          </a:bodyPr>
          <a:lstStyle/>
          <a:p>
            <a:pPr algn="l">
              <a:spcAft>
                <a:spcPts val="800"/>
              </a:spcAft>
            </a:pPr>
            <a:r>
              <a:rPr sz="4000" b="1">
                <a:solidFill>
                  <a:srgbClr val="A8A7A1"/>
                </a:solidFill>
                <a:latin typeface="Segoe UI"/>
              </a:rPr>
              <a:t>Backup</a:t>
            </a:r>
          </a:p>
          <a:p>
            <a:pPr algn="l">
              <a:spcAft>
                <a:spcPts val="0"/>
              </a:spcAft>
            </a:pPr>
            <a:r>
              <a:rPr sz="2200" b="0">
                <a:solidFill>
                  <a:srgbClr val="A8A7A1"/>
                </a:solidFill>
                <a:latin typeface="Segoe UI"/>
              </a:rPr>
              <a:t>for questions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Backup: why GCC-PHAT and not plain cross correlation</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Plain cross correlation is dominated by whatever frequencies are loudest</a:t>
            </a:r>
          </a:p>
          <a:p>
            <a:pPr algn="l">
              <a:spcAft>
                <a:spcPts val="1400"/>
              </a:spcAft>
            </a:pPr>
            <a:r>
              <a:rPr sz="1900" b="0">
                <a:solidFill>
                  <a:srgbClr val="0B0B0B"/>
                </a:solidFill>
                <a:latin typeface="Segoe UI"/>
              </a:rPr>
              <a:t>•  A clap is broadband but very uneven, and a room colours it further</a:t>
            </a:r>
          </a:p>
          <a:p>
            <a:pPr algn="l">
              <a:spcAft>
                <a:spcPts val="1400"/>
              </a:spcAft>
            </a:pPr>
            <a:r>
              <a:rPr sz="1900" b="0">
                <a:solidFill>
                  <a:srgbClr val="0B0B0B"/>
                </a:solidFill>
                <a:latin typeface="Segoe UI"/>
              </a:rPr>
              <a:t>•  PHAT divides out the magnitude and keeps only phase</a:t>
            </a:r>
          </a:p>
          <a:p>
            <a:pPr algn="l">
              <a:spcAft>
                <a:spcPts val="1400"/>
              </a:spcAft>
            </a:pPr>
            <a:r>
              <a:rPr sz="1900" b="0">
                <a:solidFill>
                  <a:srgbClr val="0B0B0B"/>
                </a:solidFill>
                <a:latin typeface="Segoe UI"/>
              </a:rPr>
              <a:t>•  That gives a sharp correlation peak instead of a broad one</a:t>
            </a:r>
          </a:p>
          <a:p>
            <a:pPr algn="l">
              <a:spcAft>
                <a:spcPts val="1400"/>
              </a:spcAft>
            </a:pPr>
            <a:r>
              <a:rPr sz="1900" b="0">
                <a:solidFill>
                  <a:srgbClr val="0B0B0B"/>
                </a:solidFill>
                <a:latin typeface="Segoe UI"/>
              </a:rPr>
              <a:t>•  Peak is then interpolated for sub-sample resolution</a:t>
            </a:r>
          </a:p>
          <a:p>
            <a:pPr algn="l">
              <a:spcAft>
                <a:spcPts val="800"/>
              </a:spcAft>
            </a:pPr>
            <a:r>
              <a:rPr sz="1700" b="0">
                <a:solidFill>
                  <a:srgbClr val="52514E"/>
                </a:solidFill>
                <a:latin typeface="Segoe UI"/>
              </a:rPr>
              <a:t>Cost: PHAT is noisier at low SNR, since it trusts quiet frequencies as much as loud ones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Backup: the signal chain in detail</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PDM mic at 2.4 MHz, one bit per clock</a:t>
            </a:r>
          </a:p>
          <a:p>
            <a:pPr algn="l">
              <a:spcAft>
                <a:spcPts val="1400"/>
              </a:spcAft>
            </a:pPr>
            <a:r>
              <a:rPr sz="1900" b="0">
                <a:solidFill>
                  <a:srgbClr val="0B0B0B"/>
                </a:solidFill>
                <a:latin typeface="Segoe UI"/>
              </a:rPr>
              <a:t>•  DFSDM sinc3 filter, oversampling ratio 150, gives 16 kHz</a:t>
            </a:r>
          </a:p>
          <a:p>
            <a:pPr algn="l">
              <a:spcAft>
                <a:spcPts val="1400"/>
              </a:spcAft>
            </a:pPr>
            <a:r>
              <a:rPr sz="1900" b="0">
                <a:solidFill>
                  <a:srgbClr val="0B0B0B"/>
                </a:solidFill>
                <a:latin typeface="Segoe UI"/>
              </a:rPr>
              <a:t>•  Each 32-bit filter result is shifted right by 8 to make int16 PCM</a:t>
            </a:r>
          </a:p>
          <a:p>
            <a:pPr algn="l">
              <a:spcAft>
                <a:spcPts val="1400"/>
              </a:spcAft>
            </a:pPr>
            <a:r>
              <a:rPr sz="1900" b="0">
                <a:solidFill>
                  <a:srgbClr val="0B0B0B"/>
                </a:solidFill>
                <a:latin typeface="Segoe UI"/>
              </a:rPr>
              <a:t>•  DMA in circular ping-pong halves, so capture never stops to copy</a:t>
            </a:r>
          </a:p>
          <a:p>
            <a:pPr algn="l">
              <a:spcAft>
                <a:spcPts val="1400"/>
              </a:spcAft>
            </a:pPr>
            <a:r>
              <a:rPr sz="1900" b="0">
                <a:solidFill>
                  <a:srgbClr val="0B0B0B"/>
                </a:solidFill>
                <a:latin typeface="Segoe UI"/>
              </a:rPr>
              <a:t>•  All four channels drained as ONE aligned frame</a:t>
            </a:r>
          </a:p>
          <a:p>
            <a:pPr algn="l">
              <a:spcAft>
                <a:spcPts val="800"/>
              </a:spcAft>
            </a:pPr>
            <a:r>
              <a:rPr sz="1700" b="0">
                <a:solidFill>
                  <a:srgbClr val="52514E"/>
                </a:solidFill>
                <a:latin typeface="Segoe UI"/>
              </a:rPr>
              <a:t>That last point is what protects channel alignment, and GCC-PHAT depends on it entirely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Backup: why the array is planar, and what that costs</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Four mics in a plane give BEARING only, not elevation</a:t>
            </a:r>
          </a:p>
          <a:p>
            <a:pPr algn="l">
              <a:spcAft>
                <a:spcPts val="1400"/>
              </a:spcAft>
            </a:pPr>
            <a:r>
              <a:rPr sz="1900" b="0">
                <a:solidFill>
                  <a:srgbClr val="0B0B0B"/>
                </a:solidFill>
                <a:latin typeface="Segoe UI"/>
              </a:rPr>
              <a:t>•  A source above the plane is indistinguishable from its mirror below</a:t>
            </a:r>
          </a:p>
          <a:p>
            <a:pPr algn="l">
              <a:spcAft>
                <a:spcPts val="1400"/>
              </a:spcAft>
            </a:pPr>
            <a:r>
              <a:rPr sz="1900" b="0">
                <a:solidFill>
                  <a:srgbClr val="0B0B0B"/>
                </a:solidFill>
                <a:latin typeface="Segoe UI"/>
              </a:rPr>
              <a:t>•  Elevation would need a non-planar layout, for example a tetrahedron</a:t>
            </a:r>
          </a:p>
          <a:p>
            <a:pPr algn="l">
              <a:spcAft>
                <a:spcPts val="1400"/>
              </a:spcAft>
            </a:pPr>
            <a:r>
              <a:rPr sz="1900" b="0">
                <a:solidFill>
                  <a:srgbClr val="0B0B0B"/>
                </a:solidFill>
                <a:latin typeface="Segoe UI"/>
              </a:rPr>
              <a:t>•  For a node on a ceiling or a wall, bearing in the plane may be enough</a:t>
            </a:r>
          </a:p>
          <a:p>
            <a:pPr algn="l">
              <a:spcAft>
                <a:spcPts val="800"/>
              </a:spcAft>
            </a:pPr>
            <a:r>
              <a:rPr sz="1700" b="0">
                <a:solidFill>
                  <a:srgbClr val="52514E"/>
                </a:solidFill>
                <a:latin typeface="Segoe UI"/>
              </a:rPr>
              <a:t>This is the one limitation that is expensive to undo later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1064240" cy="822960"/>
          </a:xfrm>
          <a:prstGeom prst="rect">
            <a:avLst/>
          </a:prstGeom>
          <a:noFill/>
        </p:spPr>
        <p:txBody>
          <a:bodyPr wrap="square">
            <a:spAutoFit/>
          </a:bodyPr>
          <a:lstStyle/>
          <a:p>
            <a:pPr algn="l">
              <a:spcAft>
                <a:spcPts val="0"/>
              </a:spcAft>
            </a:pPr>
            <a:r>
              <a:rPr sz="3000" b="1">
                <a:solidFill>
                  <a:srgbClr val="0B0B0B"/>
                </a:solidFill>
                <a:latin typeface="Segoe UI"/>
              </a:rPr>
              <a:t>Backup: how captures are stored</a:t>
            </a:r>
          </a:p>
        </p:txBody>
      </p:sp>
      <p:sp>
        <p:nvSpPr>
          <p:cNvPr id="3" name="Rectangle 2"/>
          <p:cNvSpPr/>
          <p:nvPr/>
        </p:nvSpPr>
        <p:spPr>
          <a:xfrm>
            <a:off x="566928" y="1170432"/>
            <a:ext cx="960120" cy="635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4480560"/>
          </a:xfrm>
          <a:prstGeom prst="rect">
            <a:avLst/>
          </a:prstGeom>
          <a:noFill/>
        </p:spPr>
        <p:txBody>
          <a:bodyPr wrap="square">
            <a:spAutoFit/>
          </a:bodyPr>
          <a:lstStyle/>
          <a:p>
            <a:pPr algn="l">
              <a:spcAft>
                <a:spcPts val="1400"/>
              </a:spcAft>
            </a:pPr>
            <a:r>
              <a:rPr sz="1900" b="0">
                <a:solidFill>
                  <a:srgbClr val="0B0B0B"/>
                </a:solidFill>
                <a:latin typeface="Segoe UI"/>
              </a:rPr>
              <a:t>•  captures / session / angle / trial</a:t>
            </a:r>
          </a:p>
          <a:p>
            <a:pPr algn="l">
              <a:spcAft>
                <a:spcPts val="1400"/>
              </a:spcAft>
            </a:pPr>
            <a:r>
              <a:rPr sz="1900" b="0">
                <a:solidFill>
                  <a:srgbClr val="0B0B0B"/>
                </a:solidFill>
                <a:latin typeface="Segoe UI"/>
              </a:rPr>
              <a:t>•  A session is one sitting with one room setup</a:t>
            </a:r>
          </a:p>
          <a:p>
            <a:pPr algn="l">
              <a:spcAft>
                <a:spcPts val="1400"/>
              </a:spcAft>
            </a:pPr>
            <a:r>
              <a:rPr sz="1900" b="0">
                <a:solidFill>
                  <a:srgbClr val="0B0B0B"/>
                </a:solidFill>
                <a:latin typeface="Segoe UI"/>
              </a:rPr>
              <a:t>•  Session notes record the port, the geometry and the wall distance</a:t>
            </a:r>
          </a:p>
          <a:p>
            <a:pPr algn="l">
              <a:spcAft>
                <a:spcPts val="1400"/>
              </a:spcAft>
            </a:pPr>
            <a:r>
              <a:rPr sz="1900" b="0">
                <a:solidFill>
                  <a:srgbClr val="0B0B0B"/>
                </a:solidFill>
                <a:latin typeface="Segoe UI"/>
              </a:rPr>
              <a:t>•  The board's own report is saved beside the samples that produced it</a:t>
            </a:r>
          </a:p>
          <a:p>
            <a:pPr algn="l">
              <a:spcAft>
                <a:spcPts val="800"/>
              </a:spcAft>
            </a:pPr>
            <a:r>
              <a:rPr sz="1700" b="0">
                <a:solidFill>
                  <a:srgbClr val="52514E"/>
                </a:solidFill>
                <a:latin typeface="Segoe UI"/>
              </a:rPr>
              <a:t>That is what makes board versus reference comparison possible after the fact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